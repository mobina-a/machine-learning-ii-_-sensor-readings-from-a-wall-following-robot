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2"/>
  </p:notesMasterIdLst>
  <p:handoutMasterIdLst>
    <p:handoutMasterId r:id="rId23"/>
  </p:handoutMasterIdLst>
  <p:sldIdLst>
    <p:sldId id="314" r:id="rId5"/>
    <p:sldId id="318" r:id="rId6"/>
    <p:sldId id="315" r:id="rId7"/>
    <p:sldId id="316" r:id="rId8"/>
    <p:sldId id="320" r:id="rId9"/>
    <p:sldId id="326" r:id="rId10"/>
    <p:sldId id="327" r:id="rId11"/>
    <p:sldId id="321" r:id="rId12"/>
    <p:sldId id="319" r:id="rId13"/>
    <p:sldId id="328" r:id="rId14"/>
    <p:sldId id="317" r:id="rId15"/>
    <p:sldId id="331" r:id="rId16"/>
    <p:sldId id="329" r:id="rId17"/>
    <p:sldId id="330" r:id="rId18"/>
    <p:sldId id="332" r:id="rId19"/>
    <p:sldId id="324" r:id="rId20"/>
    <p:sldId id="30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6F7996-2D6A-40E7-8747-AED2589A2BAF}" v="24" dt="2026-06-16T07:48:48.5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5388" autoAdjust="0"/>
  </p:normalViewPr>
  <p:slideViewPr>
    <p:cSldViewPr snapToGrid="0">
      <p:cViewPr varScale="1">
        <p:scale>
          <a:sx n="79" d="100"/>
          <a:sy n="79" d="100"/>
        </p:scale>
        <p:origin x="835" y="48"/>
      </p:cViewPr>
      <p:guideLst>
        <p:guide orient="horz" pos="3360"/>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6/19/2026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6/19/2026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631242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1698969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3528550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3555126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71EC5-D9D4-D313-4253-4AC62CCE2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E92669-1619-10B9-9320-59BF4259E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CBC42-B66C-840D-FDCB-D865D1AF42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B888A7-3829-F36F-7BA0-C3F34EE69F49}"/>
              </a:ext>
            </a:extLst>
          </p:cNvPr>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3908737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3FF1E-7CAE-1AEA-0C38-A9185EADC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02C432-EEFC-339C-4791-92AD74E20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068CA-FD96-9258-0FFC-6DE95E4A25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AE6A65-59AF-CC49-20EF-9730A06FC945}"/>
              </a:ext>
            </a:extLst>
          </p:cNvPr>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1707923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8</a:t>
            </a:fld>
            <a:endParaRPr lang="en-US" dirty="0"/>
          </a:p>
        </p:txBody>
      </p:sp>
    </p:spTree>
    <p:extLst>
      <p:ext uri="{BB962C8B-B14F-4D97-AF65-F5344CB8AC3E}">
        <p14:creationId xmlns:p14="http://schemas.microsoft.com/office/powerpoint/2010/main" val="3984229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9</a:t>
            </a:fld>
            <a:endParaRPr lang="en-US" dirty="0"/>
          </a:p>
        </p:txBody>
      </p:sp>
    </p:spTree>
    <p:extLst>
      <p:ext uri="{BB962C8B-B14F-4D97-AF65-F5344CB8AC3E}">
        <p14:creationId xmlns:p14="http://schemas.microsoft.com/office/powerpoint/2010/main" val="3486472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46608-73FF-4942-26A4-5EEFBB525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10C4B-C2D9-1925-60C1-56264128C6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610FAC-8458-C6D6-52AB-0510E4B10E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C10556-7702-36CA-DB39-E58C3CF95CDE}"/>
              </a:ext>
            </a:extLst>
          </p:cNvPr>
          <p:cNvSpPr>
            <a:spLocks noGrp="1"/>
          </p:cNvSpPr>
          <p:nvPr>
            <p:ph type="sldNum" sz="quarter" idx="5"/>
          </p:nvPr>
        </p:nvSpPr>
        <p:spPr/>
        <p:txBody>
          <a:bodyPr/>
          <a:lstStyle/>
          <a:p>
            <a:fld id="{D4B9A9E5-4F7F-4A7D-9DE1-899232329269}" type="slidenum">
              <a:rPr lang="en-US" smtClean="0"/>
              <a:t>10</a:t>
            </a:fld>
            <a:endParaRPr lang="en-US" dirty="0"/>
          </a:p>
        </p:txBody>
      </p:sp>
    </p:spTree>
    <p:extLst>
      <p:ext uri="{BB962C8B-B14F-4D97-AF65-F5344CB8AC3E}">
        <p14:creationId xmlns:p14="http://schemas.microsoft.com/office/powerpoint/2010/main" val="3846215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11</a:t>
            </a:fld>
            <a:endParaRPr lang="en-US" dirty="0"/>
          </a:p>
        </p:txBody>
      </p:sp>
    </p:spTree>
    <p:extLst>
      <p:ext uri="{BB962C8B-B14F-4D97-AF65-F5344CB8AC3E}">
        <p14:creationId xmlns:p14="http://schemas.microsoft.com/office/powerpoint/2010/main" val="3336033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67BB-7AF5-75AC-8AA9-583C1FE1B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579CA8-231C-EF99-2C8E-482D0BE6AD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4BE26-9E29-FC89-7094-8CA0D0F0F3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2C388F-44D0-2F71-ED2C-5F66690653D6}"/>
              </a:ext>
            </a:extLst>
          </p:cNvPr>
          <p:cNvSpPr>
            <a:spLocks noGrp="1"/>
          </p:cNvSpPr>
          <p:nvPr>
            <p:ph type="sldNum" sz="quarter" idx="5"/>
          </p:nvPr>
        </p:nvSpPr>
        <p:spPr/>
        <p:txBody>
          <a:bodyPr/>
          <a:lstStyle/>
          <a:p>
            <a:fld id="{D4B9A9E5-4F7F-4A7D-9DE1-899232329269}" type="slidenum">
              <a:rPr lang="en-US" smtClean="0"/>
              <a:t>12</a:t>
            </a:fld>
            <a:endParaRPr lang="en-US" dirty="0"/>
          </a:p>
        </p:txBody>
      </p:sp>
    </p:spTree>
    <p:extLst>
      <p:ext uri="{BB962C8B-B14F-4D97-AF65-F5344CB8AC3E}">
        <p14:creationId xmlns:p14="http://schemas.microsoft.com/office/powerpoint/2010/main" val="696107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D7DE3-CD2E-3F7B-BA76-01F4156D6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8E793-2064-A627-534C-31F719C881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2D5B58-BEC2-B908-3E0C-230012E930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F49D84-3C69-FB11-3B60-9F3C508C2EA2}"/>
              </a:ext>
            </a:extLst>
          </p:cNvPr>
          <p:cNvSpPr>
            <a:spLocks noGrp="1"/>
          </p:cNvSpPr>
          <p:nvPr>
            <p:ph type="sldNum" sz="quarter" idx="5"/>
          </p:nvPr>
        </p:nvSpPr>
        <p:spPr/>
        <p:txBody>
          <a:bodyPr/>
          <a:lstStyle/>
          <a:p>
            <a:fld id="{D4B9A9E5-4F7F-4A7D-9DE1-899232329269}" type="slidenum">
              <a:rPr lang="en-US" smtClean="0"/>
              <a:t>13</a:t>
            </a:fld>
            <a:endParaRPr lang="en-US" dirty="0"/>
          </a:p>
        </p:txBody>
      </p:sp>
    </p:spTree>
    <p:extLst>
      <p:ext uri="{BB962C8B-B14F-4D97-AF65-F5344CB8AC3E}">
        <p14:creationId xmlns:p14="http://schemas.microsoft.com/office/powerpoint/2010/main" val="1660385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98FCE-5394-3968-E027-8A35D3829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CEB05-238B-D1F5-DA7E-754612367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2FE876-54BF-DBC8-9A6C-C7420647C3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9A5F5C-7BB3-6907-68C2-9949F9096601}"/>
              </a:ext>
            </a:extLst>
          </p:cNvPr>
          <p:cNvSpPr>
            <a:spLocks noGrp="1"/>
          </p:cNvSpPr>
          <p:nvPr>
            <p:ph type="sldNum" sz="quarter" idx="5"/>
          </p:nvPr>
        </p:nvSpPr>
        <p:spPr/>
        <p:txBody>
          <a:bodyPr/>
          <a:lstStyle/>
          <a:p>
            <a:fld id="{D4B9A9E5-4F7F-4A7D-9DE1-899232329269}" type="slidenum">
              <a:rPr lang="en-US" smtClean="0"/>
              <a:t>14</a:t>
            </a:fld>
            <a:endParaRPr lang="en-US" dirty="0"/>
          </a:p>
        </p:txBody>
      </p:sp>
    </p:spTree>
    <p:extLst>
      <p:ext uri="{BB962C8B-B14F-4D97-AF65-F5344CB8AC3E}">
        <p14:creationId xmlns:p14="http://schemas.microsoft.com/office/powerpoint/2010/main" val="31235600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96026-1B6C-D6DF-B7A8-70384A301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3D7A0-E6EB-1DA2-4623-DACBEB311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FAF4E-1722-AA33-2094-A75192DB59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7EDFE3-B020-97D2-11BA-669361B92993}"/>
              </a:ext>
            </a:extLst>
          </p:cNvPr>
          <p:cNvSpPr>
            <a:spLocks noGrp="1"/>
          </p:cNvSpPr>
          <p:nvPr>
            <p:ph type="sldNum" sz="quarter" idx="5"/>
          </p:nvPr>
        </p:nvSpPr>
        <p:spPr/>
        <p:txBody>
          <a:bodyPr/>
          <a:lstStyle/>
          <a:p>
            <a:fld id="{D4B9A9E5-4F7F-4A7D-9DE1-899232329269}" type="slidenum">
              <a:rPr lang="en-US" smtClean="0"/>
              <a:t>15</a:t>
            </a:fld>
            <a:endParaRPr lang="en-US" dirty="0"/>
          </a:p>
        </p:txBody>
      </p:sp>
    </p:spTree>
    <p:extLst>
      <p:ext uri="{BB962C8B-B14F-4D97-AF65-F5344CB8AC3E}">
        <p14:creationId xmlns:p14="http://schemas.microsoft.com/office/powerpoint/2010/main" val="2527869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16</a:t>
            </a:fld>
            <a:endParaRPr lang="en-US" dirty="0"/>
          </a:p>
        </p:txBody>
      </p:sp>
    </p:spTree>
    <p:extLst>
      <p:ext uri="{BB962C8B-B14F-4D97-AF65-F5344CB8AC3E}">
        <p14:creationId xmlns:p14="http://schemas.microsoft.com/office/powerpoint/2010/main" val="6792382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17</a:t>
            </a:fld>
            <a:endParaRPr lang="en-US" dirty="0"/>
          </a:p>
        </p:txBody>
      </p:sp>
    </p:spTree>
    <p:extLst>
      <p:ext uri="{BB962C8B-B14F-4D97-AF65-F5344CB8AC3E}">
        <p14:creationId xmlns:p14="http://schemas.microsoft.com/office/powerpoint/2010/main" val="24299665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4996-9779-1D0F-B5C6-7FE85FFF1EF4}"/>
              </a:ext>
            </a:extLst>
          </p:cNvPr>
          <p:cNvSpPr>
            <a:spLocks noGrp="1"/>
          </p:cNvSpPr>
          <p:nvPr>
            <p:ph type="title" hasCustomPrompt="1"/>
          </p:nvPr>
        </p:nvSpPr>
        <p:spPr>
          <a:xfrm>
            <a:off x="6096000" y="2773681"/>
            <a:ext cx="5674360" cy="3200400"/>
          </a:xfrm>
        </p:spPr>
        <p:txBody>
          <a:bodyPr anchor="b">
            <a:normAutofit/>
          </a:bodyPr>
          <a:lstStyle>
            <a:lvl1pPr>
              <a:defRPr sz="4800">
                <a:solidFill>
                  <a:schemeClr val="bg1"/>
                </a:solidFill>
              </a:defRPr>
            </a:lvl1pPr>
          </a:lstStyle>
          <a:p>
            <a:r>
              <a:rPr lang="en-US" dirty="0"/>
              <a:t>Click to add title</a:t>
            </a:r>
          </a:p>
        </p:txBody>
      </p:sp>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454" t="1728"/>
          <a:stretch/>
        </p:blipFill>
        <p:spPr>
          <a:xfrm>
            <a:off x="-1" y="0"/>
            <a:ext cx="8264995" cy="5320146"/>
          </a:xfrm>
          <a:prstGeom prst="rect">
            <a:avLst/>
          </a:prstGeom>
        </p:spPr>
      </p:pic>
    </p:spTree>
    <p:extLst>
      <p:ext uri="{BB962C8B-B14F-4D97-AF65-F5344CB8AC3E}">
        <p14:creationId xmlns:p14="http://schemas.microsoft.com/office/powerpoint/2010/main" val="381084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3875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73678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365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1521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left Image 1">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endParaRPr lang="en-US" dirty="0"/>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9111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1779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82813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right Image">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dirty="0"/>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346700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dirty="0"/>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5621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3">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1984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endParaRPr lang="en-US" dirty="0"/>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6384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dirty="0"/>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06"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uciml/wall-following-robot/data"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5.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9.jpe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9.jpe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4.jpe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0D96-BFFB-05BD-30ED-0352500CD058}"/>
              </a:ext>
            </a:extLst>
          </p:cNvPr>
          <p:cNvSpPr>
            <a:spLocks noGrp="1"/>
          </p:cNvSpPr>
          <p:nvPr>
            <p:ph type="title"/>
          </p:nvPr>
        </p:nvSpPr>
        <p:spPr>
          <a:xfrm>
            <a:off x="6245982" y="543319"/>
            <a:ext cx="5979885" cy="3200400"/>
          </a:xfrm>
        </p:spPr>
        <p:txBody>
          <a:bodyPr>
            <a:normAutofit/>
          </a:bodyPr>
          <a:lstStyle/>
          <a:p>
            <a:r>
              <a:rPr lang="en-US" sz="3600" b="1" dirty="0"/>
              <a:t>SENSOR READINGS FROM A WALL-FOLLOWING ROBOT</a:t>
            </a:r>
            <a:br>
              <a:rPr lang="en-US" dirty="0"/>
            </a:br>
            <a:br>
              <a:rPr lang="en-US" dirty="0"/>
            </a:br>
            <a:r>
              <a:rPr lang="en-US" sz="2400" dirty="0"/>
              <a:t>DATA COLLECTED FROM A ROBOT WHILE NAVIGATING AROUND A ROOM</a:t>
            </a:r>
            <a:endParaRPr lang="en-US" dirty="0"/>
          </a:p>
        </p:txBody>
      </p:sp>
      <p:sp>
        <p:nvSpPr>
          <p:cNvPr id="3" name="Title 1">
            <a:extLst>
              <a:ext uri="{FF2B5EF4-FFF2-40B4-BE49-F238E27FC236}">
                <a16:creationId xmlns:a16="http://schemas.microsoft.com/office/drawing/2014/main" id="{CC0F610D-AC6C-A460-E25E-0716533B57C8}"/>
              </a:ext>
            </a:extLst>
          </p:cNvPr>
          <p:cNvSpPr txBox="1">
            <a:spLocks/>
          </p:cNvSpPr>
          <p:nvPr/>
        </p:nvSpPr>
        <p:spPr>
          <a:xfrm>
            <a:off x="290287" y="5631543"/>
            <a:ext cx="4959047" cy="87085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800" kern="1200" cap="all" baseline="0">
                <a:solidFill>
                  <a:schemeClr val="bg1"/>
                </a:solidFill>
                <a:latin typeface="+mj-lt"/>
                <a:ea typeface="+mj-ea"/>
                <a:cs typeface="+mj-cs"/>
              </a:defRPr>
            </a:lvl1pPr>
          </a:lstStyle>
          <a:p>
            <a:r>
              <a:rPr lang="en-US" sz="1800" dirty="0"/>
              <a:t>Course: Machine Learning 2</a:t>
            </a:r>
          </a:p>
          <a:p>
            <a:r>
              <a:rPr lang="en-US" sz="1800" dirty="0"/>
              <a:t>Student: Mobina Alinaghian</a:t>
            </a:r>
          </a:p>
          <a:p>
            <a:r>
              <a:rPr lang="en-US" sz="1800" dirty="0"/>
              <a:t>Student Number: S5905100</a:t>
            </a: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E4F0B-A6EB-861C-1C34-CAA9BDE47858}"/>
              </a:ext>
            </a:extLst>
          </p:cNvPr>
          <p:cNvSpPr>
            <a:spLocks noGrp="1"/>
          </p:cNvSpPr>
          <p:nvPr>
            <p:ph type="title"/>
          </p:nvPr>
        </p:nvSpPr>
        <p:spPr/>
        <p:txBody>
          <a:bodyPr/>
          <a:lstStyle/>
          <a:p>
            <a:r>
              <a:rPr lang="en-US" dirty="0"/>
              <a:t>INTRODUCTION </a:t>
            </a:r>
            <a:endParaRPr lang="en-US" sz="3200" dirty="0"/>
          </a:p>
        </p:txBody>
      </p:sp>
      <p:sp>
        <p:nvSpPr>
          <p:cNvPr id="3" name="Content Placeholder 2">
            <a:extLst>
              <a:ext uri="{FF2B5EF4-FFF2-40B4-BE49-F238E27FC236}">
                <a16:creationId xmlns:a16="http://schemas.microsoft.com/office/drawing/2014/main" id="{59F97739-E0DF-24F3-7886-013A799A52C3}"/>
              </a:ext>
            </a:extLst>
          </p:cNvPr>
          <p:cNvSpPr>
            <a:spLocks noGrp="1"/>
          </p:cNvSpPr>
          <p:nvPr>
            <p:ph sz="quarter" idx="10"/>
          </p:nvPr>
        </p:nvSpPr>
        <p:spPr>
          <a:xfrm>
            <a:off x="914399" y="1756229"/>
            <a:ext cx="9700382" cy="4410891"/>
          </a:xfrm>
        </p:spPr>
        <p:txBody>
          <a:bodyPr>
            <a:normAutofit/>
          </a:bodyPr>
          <a:lstStyle/>
          <a:p>
            <a:pPr marL="228600" indent="-228600">
              <a:spcBef>
                <a:spcPts val="0"/>
              </a:spcBef>
              <a:spcAft>
                <a:spcPts val="1200"/>
              </a:spcAft>
              <a:buFont typeface="Arial" panose="020B0604020202020204" pitchFamily="34" charset="0"/>
              <a:buChar char="•"/>
            </a:pPr>
            <a:r>
              <a:rPr lang="en-US" sz="2000" cap="none" dirty="0"/>
              <a:t>Dataset:  </a:t>
            </a:r>
            <a:r>
              <a:rPr lang="en-US" dirty="0">
                <a:cs typeface="Calibri"/>
                <a:hlinkClick r:id="rId3"/>
              </a:rPr>
              <a:t>https://www.kaggle.com/datasets/uciml/wall-following-robot/data</a:t>
            </a:r>
            <a:endParaRPr lang="en-US" dirty="0">
              <a:cs typeface="Calibri"/>
            </a:endParaRPr>
          </a:p>
          <a:p>
            <a:pPr marL="0" indent="0">
              <a:spcBef>
                <a:spcPts val="0"/>
              </a:spcBef>
              <a:spcAft>
                <a:spcPts val="1200"/>
              </a:spcAft>
              <a:buNone/>
            </a:pPr>
            <a:endParaRPr lang="en-US" dirty="0">
              <a:cs typeface="Calibri"/>
            </a:endParaRPr>
          </a:p>
          <a:p>
            <a:r>
              <a:rPr lang="en-US" dirty="0"/>
              <a:t>The data were collected as the </a:t>
            </a:r>
            <a:r>
              <a:rPr lang="en-US" b="1" dirty="0"/>
              <a:t>SCITOS G5 </a:t>
            </a:r>
            <a:r>
              <a:rPr lang="en-US" dirty="0"/>
              <a:t>navigated through the room following the wall in a </a:t>
            </a:r>
            <a:r>
              <a:rPr lang="en-US" b="1" dirty="0"/>
              <a:t>clockwise direction</a:t>
            </a:r>
            <a:r>
              <a:rPr lang="en-US" dirty="0"/>
              <a:t>, for </a:t>
            </a:r>
            <a:r>
              <a:rPr lang="en-US" b="1" dirty="0"/>
              <a:t>4 rounds</a:t>
            </a:r>
            <a:r>
              <a:rPr lang="en-US" dirty="0"/>
              <a:t>.</a:t>
            </a:r>
          </a:p>
          <a:p>
            <a:r>
              <a:rPr lang="en-US" dirty="0"/>
              <a:t> To navigate, the robot uses </a:t>
            </a:r>
            <a:r>
              <a:rPr lang="en-US" b="1" dirty="0"/>
              <a:t>24 ultrasound sensors </a:t>
            </a:r>
            <a:r>
              <a:rPr lang="en-US" dirty="0"/>
              <a:t>arranged circularly around its "waist".</a:t>
            </a:r>
          </a:p>
        </p:txBody>
      </p:sp>
      <p:sp>
        <p:nvSpPr>
          <p:cNvPr id="4" name="Slide Number Placeholder 3">
            <a:extLst>
              <a:ext uri="{FF2B5EF4-FFF2-40B4-BE49-F238E27FC236}">
                <a16:creationId xmlns:a16="http://schemas.microsoft.com/office/drawing/2014/main" id="{6FE0D061-7327-A55C-AF6A-A95C24DD8B72}"/>
              </a:ext>
            </a:extLst>
          </p:cNvPr>
          <p:cNvSpPr>
            <a:spLocks noGrp="1"/>
          </p:cNvSpPr>
          <p:nvPr>
            <p:ph type="sldNum" sz="quarter" idx="4"/>
          </p:nvPr>
        </p:nvSpPr>
        <p:spPr/>
        <p:txBody>
          <a:bodyPr/>
          <a:lstStyle/>
          <a:p>
            <a:fld id="{B5CEABB6-07DC-46E8-9B57-56EC44A396E5}" type="slidenum">
              <a:rPr lang="en-US" smtClean="0"/>
              <a:pPr/>
              <a:t>2</a:t>
            </a:fld>
            <a:endParaRPr lang="en-US" dirty="0"/>
          </a:p>
        </p:txBody>
      </p:sp>
      <p:pic>
        <p:nvPicPr>
          <p:cNvPr id="5" name="Picture 4" descr="Intelligent interactive mobile service robots">
            <a:extLst>
              <a:ext uri="{FF2B5EF4-FFF2-40B4-BE49-F238E27FC236}">
                <a16:creationId xmlns:a16="http://schemas.microsoft.com/office/drawing/2014/main" id="{14445DF3-C10E-F773-F51F-BA480374EA8C}"/>
              </a:ext>
            </a:extLst>
          </p:cNvPr>
          <p:cNvPicPr>
            <a:picLocks noChangeAspect="1"/>
          </p:cNvPicPr>
          <p:nvPr/>
        </p:nvPicPr>
        <p:blipFill>
          <a:blip r:embed="rId4"/>
          <a:srcRect l="8333" t="6467" r="6618"/>
          <a:stretch>
            <a:fillRect/>
          </a:stretch>
        </p:blipFill>
        <p:spPr>
          <a:xfrm>
            <a:off x="7010397" y="3831773"/>
            <a:ext cx="2486782" cy="2535313"/>
          </a:xfrm>
          <a:prstGeom prst="rect">
            <a:avLst/>
          </a:prstGeom>
        </p:spPr>
      </p:pic>
    </p:spTree>
    <p:extLst>
      <p:ext uri="{BB962C8B-B14F-4D97-AF65-F5344CB8AC3E}">
        <p14:creationId xmlns:p14="http://schemas.microsoft.com/office/powerpoint/2010/main" val="412000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20C1E08-E337-110E-DB8E-41BA4A3341A1}"/>
              </a:ext>
            </a:extLst>
          </p:cNvPr>
          <p:cNvSpPr>
            <a:spLocks noGrp="1"/>
          </p:cNvSpPr>
          <p:nvPr>
            <p:ph sz="quarter" idx="10"/>
          </p:nvPr>
        </p:nvSpPr>
        <p:spPr>
          <a:xfrm>
            <a:off x="914399" y="1059543"/>
            <a:ext cx="6865257" cy="1654629"/>
          </a:xfrm>
        </p:spPr>
        <p:txBody>
          <a:bodyPr/>
          <a:lstStyle/>
          <a:p>
            <a:r>
              <a:rPr lang="en-US" dirty="0"/>
              <a:t>The original robot has 24 sensors, but the dataset </a:t>
            </a:r>
            <a:r>
              <a:rPr lang="en-US" b="1" dirty="0"/>
              <a:t>simplifies</a:t>
            </a:r>
            <a:r>
              <a:rPr lang="en-US" dirty="0"/>
              <a:t> these measurements into </a:t>
            </a:r>
            <a:r>
              <a:rPr lang="en-US" b="1" dirty="0"/>
              <a:t>four distances </a:t>
            </a:r>
            <a:r>
              <a:rPr lang="en-US" dirty="0"/>
              <a:t>representing the </a:t>
            </a:r>
            <a:r>
              <a:rPr lang="en-US" b="1" dirty="0"/>
              <a:t>front</a:t>
            </a:r>
            <a:r>
              <a:rPr lang="en-US" dirty="0"/>
              <a:t>, </a:t>
            </a:r>
            <a:r>
              <a:rPr lang="en-US" b="1" dirty="0"/>
              <a:t>left</a:t>
            </a:r>
            <a:r>
              <a:rPr lang="en-US" dirty="0"/>
              <a:t>, </a:t>
            </a:r>
            <a:r>
              <a:rPr lang="en-US" b="1" dirty="0"/>
              <a:t>right</a:t>
            </a:r>
            <a:r>
              <a:rPr lang="en-US" dirty="0"/>
              <a:t>, and </a:t>
            </a:r>
            <a:r>
              <a:rPr lang="en-US" b="1" dirty="0"/>
              <a:t>back</a:t>
            </a:r>
            <a:r>
              <a:rPr lang="en-US" dirty="0"/>
              <a:t> sides of the robot.</a:t>
            </a:r>
          </a:p>
        </p:txBody>
      </p:sp>
      <p:sp>
        <p:nvSpPr>
          <p:cNvPr id="2" name="Slide Number Placeholder 1">
            <a:extLst>
              <a:ext uri="{FF2B5EF4-FFF2-40B4-BE49-F238E27FC236}">
                <a16:creationId xmlns:a16="http://schemas.microsoft.com/office/drawing/2014/main" id="{00255621-1D81-03E6-507B-CB20E070356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3</a:t>
            </a:fld>
            <a:endParaRPr lang="en-US" dirty="0"/>
          </a:p>
        </p:txBody>
      </p:sp>
      <p:sp>
        <p:nvSpPr>
          <p:cNvPr id="8" name="TextBox 7">
            <a:extLst>
              <a:ext uri="{FF2B5EF4-FFF2-40B4-BE49-F238E27FC236}">
                <a16:creationId xmlns:a16="http://schemas.microsoft.com/office/drawing/2014/main" id="{7DB139AB-6E23-5B1F-C399-91B75C916951}"/>
              </a:ext>
            </a:extLst>
          </p:cNvPr>
          <p:cNvSpPr txBox="1"/>
          <p:nvPr/>
        </p:nvSpPr>
        <p:spPr>
          <a:xfrm>
            <a:off x="914400" y="2838494"/>
            <a:ext cx="7107162" cy="2862322"/>
          </a:xfrm>
          <a:prstGeom prst="rect">
            <a:avLst/>
          </a:prstGeom>
          <a:noFill/>
        </p:spPr>
        <p:txBody>
          <a:bodyPr wrap="square">
            <a:spAutoFit/>
          </a:bodyPr>
          <a:lstStyle/>
          <a:p>
            <a:r>
              <a:rPr lang="en-US" sz="2000" dirty="0"/>
              <a:t>The dataset contains four input features:</a:t>
            </a:r>
          </a:p>
          <a:p>
            <a:pPr marL="342900" indent="-342900">
              <a:buFont typeface="Arial" panose="020B0604020202020204" pitchFamily="34" charset="0"/>
              <a:buChar char="•"/>
            </a:pPr>
            <a:r>
              <a:rPr lang="en-US" sz="2000" dirty="0"/>
              <a:t>Front Distance </a:t>
            </a:r>
          </a:p>
          <a:p>
            <a:pPr marL="342900" indent="-342900">
              <a:buFont typeface="Arial" panose="020B0604020202020204" pitchFamily="34" charset="0"/>
              <a:buChar char="•"/>
            </a:pPr>
            <a:r>
              <a:rPr lang="en-US" sz="2000" dirty="0"/>
              <a:t>Left Distance </a:t>
            </a:r>
          </a:p>
          <a:p>
            <a:pPr marL="342900" indent="-342900">
              <a:buFont typeface="Arial" panose="020B0604020202020204" pitchFamily="34" charset="0"/>
              <a:buChar char="•"/>
            </a:pPr>
            <a:r>
              <a:rPr lang="en-US" sz="2000" dirty="0"/>
              <a:t>Right Distance </a:t>
            </a:r>
          </a:p>
          <a:p>
            <a:pPr marL="342900" indent="-342900">
              <a:buFont typeface="Arial" panose="020B0604020202020204" pitchFamily="34" charset="0"/>
              <a:buChar char="•"/>
            </a:pPr>
            <a:r>
              <a:rPr lang="en-US" sz="2000" dirty="0"/>
              <a:t>Back Distance</a:t>
            </a:r>
          </a:p>
          <a:p>
            <a:endParaRPr lang="en-US" sz="2000" cap="none" dirty="0">
              <a:cs typeface="Calibri"/>
            </a:endParaRPr>
          </a:p>
          <a:p>
            <a:r>
              <a:rPr lang="en-US" sz="2000" dirty="0"/>
              <a:t>These values represent the minimum measured distance in each direction around the robot.</a:t>
            </a:r>
          </a:p>
          <a:p>
            <a:endParaRPr lang="en-US" sz="2000" cap="none" dirty="0">
              <a:cs typeface="Calibri"/>
            </a:endParaRPr>
          </a:p>
        </p:txBody>
      </p:sp>
    </p:spTree>
    <p:extLst>
      <p:ext uri="{BB962C8B-B14F-4D97-AF65-F5344CB8AC3E}">
        <p14:creationId xmlns:p14="http://schemas.microsoft.com/office/powerpoint/2010/main" val="542059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FD5F-786B-1974-5F47-94CA02CFA6E5}"/>
              </a:ext>
            </a:extLst>
          </p:cNvPr>
          <p:cNvSpPr>
            <a:spLocks noGrp="1"/>
          </p:cNvSpPr>
          <p:nvPr>
            <p:ph type="title"/>
          </p:nvPr>
        </p:nvSpPr>
        <p:spPr>
          <a:xfrm>
            <a:off x="914400" y="2580640"/>
            <a:ext cx="5181600" cy="3368819"/>
          </a:xfrm>
        </p:spPr>
        <p:txBody>
          <a:bodyPr/>
          <a:lstStyle/>
          <a:p>
            <a:r>
              <a:rPr lang="en-US" dirty="0"/>
              <a:t>Dataset</a:t>
            </a:r>
          </a:p>
        </p:txBody>
      </p:sp>
      <p:pic>
        <p:nvPicPr>
          <p:cNvPr id="9" name="Picture 8" descr="آموزش و ارزیابی مدل‌های یادگیری ماشین با استفاده از دیتاست ها | مهندسی  فناوری اطلاعات - محمد زند خانه شهری">
            <a:extLst>
              <a:ext uri="{FF2B5EF4-FFF2-40B4-BE49-F238E27FC236}">
                <a16:creationId xmlns:a16="http://schemas.microsoft.com/office/drawing/2014/main" id="{17E4ED37-0B3C-27B3-F508-081024A6E13A}"/>
              </a:ext>
            </a:extLst>
          </p:cNvPr>
          <p:cNvPicPr>
            <a:picLocks noChangeAspect="1"/>
          </p:cNvPicPr>
          <p:nvPr/>
        </p:nvPicPr>
        <p:blipFill>
          <a:blip r:embed="rId3"/>
          <a:stretch>
            <a:fillRect/>
          </a:stretch>
        </p:blipFill>
        <p:spPr>
          <a:xfrm>
            <a:off x="4806301" y="321733"/>
            <a:ext cx="6616412" cy="6422572"/>
          </a:xfrm>
          <a:prstGeom prst="rect">
            <a:avLst/>
          </a:prstGeom>
        </p:spPr>
      </p:pic>
    </p:spTree>
    <p:extLst>
      <p:ext uri="{BB962C8B-B14F-4D97-AF65-F5344CB8AC3E}">
        <p14:creationId xmlns:p14="http://schemas.microsoft.com/office/powerpoint/2010/main" val="4293742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5DADF2-8E4D-6C0E-0FA2-C5228AF29C1D}"/>
              </a:ext>
            </a:extLst>
          </p:cNvPr>
          <p:cNvSpPr>
            <a:spLocks noGrp="1"/>
          </p:cNvSpPr>
          <p:nvPr>
            <p:ph sz="quarter" idx="10"/>
          </p:nvPr>
        </p:nvSpPr>
        <p:spPr>
          <a:xfrm>
            <a:off x="401561" y="396728"/>
            <a:ext cx="10977637" cy="3672113"/>
          </a:xfrm>
          <a:noFill/>
        </p:spPr>
        <p:style>
          <a:lnRef idx="2">
            <a:schemeClr val="dk1"/>
          </a:lnRef>
          <a:fillRef idx="1">
            <a:schemeClr val="lt1"/>
          </a:fillRef>
          <a:effectRef idx="0">
            <a:schemeClr val="dk1"/>
          </a:effectRef>
          <a:fontRef idx="minor">
            <a:schemeClr val="dk1"/>
          </a:fontRef>
        </p:style>
        <p:txBody>
          <a:bodyPr>
            <a:normAutofit lnSpcReduction="10000"/>
          </a:bodyPr>
          <a:lstStyle/>
          <a:p>
            <a:endParaRPr lang="en-US" dirty="0"/>
          </a:p>
          <a:p>
            <a:r>
              <a:rPr lang="en-US" dirty="0"/>
              <a:t>The full structure of the dataset has 5456 instances.</a:t>
            </a:r>
          </a:p>
          <a:p>
            <a:r>
              <a:rPr lang="en-US" dirty="0"/>
              <a:t>Each instance contains four sensor readings and one class label representing the robot's action.</a:t>
            </a:r>
          </a:p>
          <a:p>
            <a:r>
              <a:rPr lang="en-US" dirty="0"/>
              <a:t>For each instance, the corresponding class label is given: </a:t>
            </a:r>
          </a:p>
          <a:p>
            <a:pPr lvl="1"/>
            <a:r>
              <a:rPr lang="en-US" dirty="0"/>
              <a:t>Move-Forward </a:t>
            </a:r>
          </a:p>
          <a:p>
            <a:pPr lvl="1"/>
            <a:r>
              <a:rPr lang="en-US" dirty="0"/>
              <a:t>Slight-Right-Turn </a:t>
            </a:r>
          </a:p>
          <a:p>
            <a:pPr lvl="1"/>
            <a:r>
              <a:rPr lang="en-US" dirty="0"/>
              <a:t>Sharp-Right-Turn </a:t>
            </a:r>
          </a:p>
          <a:p>
            <a:pPr lvl="1"/>
            <a:r>
              <a:rPr lang="en-US" dirty="0"/>
              <a:t>Slight-Left-Turn </a:t>
            </a:r>
          </a:p>
          <a:p>
            <a:r>
              <a:rPr lang="en-US" dirty="0"/>
              <a:t>Arrangement: 5456 x 5 (4 sides + 1 class label)</a:t>
            </a:r>
          </a:p>
          <a:p>
            <a:pPr marL="0" indent="0">
              <a:buNone/>
            </a:pPr>
            <a:endParaRPr lang="en-US" noProof="1"/>
          </a:p>
        </p:txBody>
      </p:sp>
      <p:sp>
        <p:nvSpPr>
          <p:cNvPr id="5" name="Slide Number Placeholder 4">
            <a:extLst>
              <a:ext uri="{FF2B5EF4-FFF2-40B4-BE49-F238E27FC236}">
                <a16:creationId xmlns:a16="http://schemas.microsoft.com/office/drawing/2014/main" id="{FD4FFC83-A1E8-FCEA-2C47-38C5ADAEA1C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5</a:t>
            </a:fld>
            <a:endParaRPr lang="en-US" dirty="0"/>
          </a:p>
        </p:txBody>
      </p:sp>
      <p:pic>
        <p:nvPicPr>
          <p:cNvPr id="4" name="Picture 3">
            <a:extLst>
              <a:ext uri="{FF2B5EF4-FFF2-40B4-BE49-F238E27FC236}">
                <a16:creationId xmlns:a16="http://schemas.microsoft.com/office/drawing/2014/main" id="{E580FFDC-D4AE-D1C9-AD79-D5CD2FD1623A}"/>
              </a:ext>
            </a:extLst>
          </p:cNvPr>
          <p:cNvPicPr>
            <a:picLocks noChangeAspect="1"/>
          </p:cNvPicPr>
          <p:nvPr/>
        </p:nvPicPr>
        <p:blipFill>
          <a:blip r:embed="rId3"/>
          <a:stretch>
            <a:fillRect/>
          </a:stretch>
        </p:blipFill>
        <p:spPr>
          <a:xfrm>
            <a:off x="401562" y="4238082"/>
            <a:ext cx="10977638" cy="1919213"/>
          </a:xfrm>
          <a:prstGeom prst="rect">
            <a:avLst/>
          </a:prstGeom>
        </p:spPr>
      </p:pic>
    </p:spTree>
    <p:extLst>
      <p:ext uri="{BB962C8B-B14F-4D97-AF65-F5344CB8AC3E}">
        <p14:creationId xmlns:p14="http://schemas.microsoft.com/office/powerpoint/2010/main" val="430403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C85B3-7717-EBF0-EDFC-C7659380C7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CD00A-6157-1B0C-C2B7-3E299FBD1A76}"/>
              </a:ext>
            </a:extLst>
          </p:cNvPr>
          <p:cNvSpPr>
            <a:spLocks noGrp="1"/>
          </p:cNvSpPr>
          <p:nvPr>
            <p:ph type="title"/>
          </p:nvPr>
        </p:nvSpPr>
        <p:spPr>
          <a:xfrm>
            <a:off x="914400" y="2580640"/>
            <a:ext cx="5181600" cy="3368819"/>
          </a:xfrm>
        </p:spPr>
        <p:txBody>
          <a:bodyPr/>
          <a:lstStyle/>
          <a:p>
            <a:r>
              <a:rPr lang="en-US" dirty="0"/>
              <a:t>IMPLEMENTATION </a:t>
            </a:r>
          </a:p>
        </p:txBody>
      </p:sp>
      <p:pic>
        <p:nvPicPr>
          <p:cNvPr id="6" name="Picture 5" descr="Trendy modern implementation icon on transparent background 17197513 PNG">
            <a:extLst>
              <a:ext uri="{FF2B5EF4-FFF2-40B4-BE49-F238E27FC236}">
                <a16:creationId xmlns:a16="http://schemas.microsoft.com/office/drawing/2014/main" id="{FDFA1DF1-3B80-C0FC-1F8C-ED3B58FF4AB4}"/>
              </a:ext>
            </a:extLst>
          </p:cNvPr>
          <p:cNvPicPr>
            <a:picLocks noChangeAspect="1"/>
          </p:cNvPicPr>
          <p:nvPr/>
        </p:nvPicPr>
        <p:blipFill>
          <a:blip r:embed="rId3"/>
          <a:stretch>
            <a:fillRect/>
          </a:stretch>
        </p:blipFill>
        <p:spPr>
          <a:xfrm>
            <a:off x="4612517" y="949476"/>
            <a:ext cx="7717973" cy="5145315"/>
          </a:xfrm>
          <a:prstGeom prst="rect">
            <a:avLst/>
          </a:prstGeom>
        </p:spPr>
      </p:pic>
    </p:spTree>
    <p:extLst>
      <p:ext uri="{BB962C8B-B14F-4D97-AF65-F5344CB8AC3E}">
        <p14:creationId xmlns:p14="http://schemas.microsoft.com/office/powerpoint/2010/main" val="3256796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F9545-C033-7416-4547-48A5C55F1B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ACC2B-8C6C-04C6-2A83-D230774D367D}"/>
              </a:ext>
            </a:extLst>
          </p:cNvPr>
          <p:cNvSpPr>
            <a:spLocks noGrp="1"/>
          </p:cNvSpPr>
          <p:nvPr>
            <p:ph sz="quarter" idx="10"/>
          </p:nvPr>
        </p:nvSpPr>
        <p:spPr>
          <a:xfrm>
            <a:off x="1608666" y="1621972"/>
            <a:ext cx="8974668" cy="3614056"/>
          </a:xfrm>
          <a:noFill/>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t>I am implementing two distinct machine learning algorithms, each representing different aspects of non-linear modeling: </a:t>
            </a:r>
          </a:p>
          <a:p>
            <a:r>
              <a:rPr lang="en-US" dirty="0"/>
              <a:t>Support Vector Classifier (SVC) </a:t>
            </a:r>
          </a:p>
          <a:p>
            <a:r>
              <a:rPr lang="en-US" dirty="0"/>
              <a:t>Random Forest </a:t>
            </a:r>
          </a:p>
          <a:p>
            <a:pPr marL="0" indent="0">
              <a:buNone/>
            </a:pPr>
            <a:endParaRPr lang="en-US" dirty="0"/>
          </a:p>
          <a:p>
            <a:pPr marL="0" indent="0">
              <a:buNone/>
            </a:pPr>
            <a:r>
              <a:rPr lang="en-US" dirty="0"/>
              <a:t>I trained the models using default fixed parameters. And then with a grid search process to optimize the hyperparameters of the algorithm. </a:t>
            </a:r>
          </a:p>
          <a:p>
            <a:pPr marL="0" indent="0">
              <a:buNone/>
            </a:pPr>
            <a:r>
              <a:rPr lang="en-US" dirty="0"/>
              <a:t>Finally, I evaluated the models using accuracy and confusion matrices.</a:t>
            </a:r>
            <a:endParaRPr lang="en-US" noProof="1"/>
          </a:p>
        </p:txBody>
      </p:sp>
      <p:sp>
        <p:nvSpPr>
          <p:cNvPr id="5" name="Slide Number Placeholder 4">
            <a:extLst>
              <a:ext uri="{FF2B5EF4-FFF2-40B4-BE49-F238E27FC236}">
                <a16:creationId xmlns:a16="http://schemas.microsoft.com/office/drawing/2014/main" id="{1125A0C6-8619-6AA9-7446-8DA76320FE38}"/>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3974713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DB0AE-5ADD-1975-6BDD-38608925072A}"/>
              </a:ext>
            </a:extLst>
          </p:cNvPr>
          <p:cNvSpPr>
            <a:spLocks noGrp="1"/>
          </p:cNvSpPr>
          <p:nvPr>
            <p:ph type="title"/>
          </p:nvPr>
        </p:nvSpPr>
        <p:spPr>
          <a:xfrm>
            <a:off x="914398" y="365125"/>
            <a:ext cx="10439401" cy="1617017"/>
          </a:xfrm>
        </p:spPr>
        <p:txBody>
          <a:bodyPr/>
          <a:lstStyle/>
          <a:p>
            <a:r>
              <a:rPr lang="en-US" dirty="0"/>
              <a:t>PRE-PROCESSING </a:t>
            </a:r>
          </a:p>
        </p:txBody>
      </p:sp>
      <p:sp>
        <p:nvSpPr>
          <p:cNvPr id="5" name="Slide Number Placeholder 4">
            <a:extLst>
              <a:ext uri="{FF2B5EF4-FFF2-40B4-BE49-F238E27FC236}">
                <a16:creationId xmlns:a16="http://schemas.microsoft.com/office/drawing/2014/main" id="{4D27E5DB-AFB6-9088-87C9-1F671C0B0330}"/>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8</a:t>
            </a:fld>
            <a:endParaRPr lang="en-US" dirty="0"/>
          </a:p>
        </p:txBody>
      </p:sp>
      <p:sp>
        <p:nvSpPr>
          <p:cNvPr id="10" name="Rectangle: Rounded Corners 9">
            <a:extLst>
              <a:ext uri="{FF2B5EF4-FFF2-40B4-BE49-F238E27FC236}">
                <a16:creationId xmlns:a16="http://schemas.microsoft.com/office/drawing/2014/main" id="{5A8BC241-32BF-7789-17BC-35D40BCB2B52}"/>
              </a:ext>
            </a:extLst>
          </p:cNvPr>
          <p:cNvSpPr/>
          <p:nvPr/>
        </p:nvSpPr>
        <p:spPr>
          <a:xfrm>
            <a:off x="416081" y="2466487"/>
            <a:ext cx="3659410" cy="24093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The dataset is imported from a .csv file and loaded into the environment.</a:t>
            </a:r>
          </a:p>
        </p:txBody>
      </p:sp>
      <p:sp>
        <p:nvSpPr>
          <p:cNvPr id="11" name="Rectangle: Rounded Corners 10">
            <a:extLst>
              <a:ext uri="{FF2B5EF4-FFF2-40B4-BE49-F238E27FC236}">
                <a16:creationId xmlns:a16="http://schemas.microsoft.com/office/drawing/2014/main" id="{CFEA9F73-53C0-61DC-895E-1BDCCC3278A5}"/>
              </a:ext>
            </a:extLst>
          </p:cNvPr>
          <p:cNvSpPr/>
          <p:nvPr/>
        </p:nvSpPr>
        <p:spPr>
          <a:xfrm>
            <a:off x="4194026" y="2466487"/>
            <a:ext cx="3711427" cy="24093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Data is then split into 3 subsets: </a:t>
            </a:r>
          </a:p>
          <a:p>
            <a:pPr marL="342900" indent="-342900">
              <a:buFont typeface="Arial" panose="020B0604020202020204" pitchFamily="34" charset="0"/>
              <a:buChar char="•"/>
            </a:pPr>
            <a:r>
              <a:rPr lang="en-US" sz="2000" dirty="0">
                <a:solidFill>
                  <a:schemeClr val="tx1"/>
                </a:solidFill>
              </a:rPr>
              <a:t>the training phase (70%) </a:t>
            </a:r>
          </a:p>
          <a:p>
            <a:pPr marL="342900" indent="-342900">
              <a:buFont typeface="Arial" panose="020B0604020202020204" pitchFamily="34" charset="0"/>
              <a:buChar char="•"/>
            </a:pPr>
            <a:r>
              <a:rPr lang="en-US" sz="2000" dirty="0">
                <a:solidFill>
                  <a:schemeClr val="tx1"/>
                </a:solidFill>
              </a:rPr>
              <a:t>the test phase (15%) </a:t>
            </a:r>
          </a:p>
          <a:p>
            <a:pPr marL="342900" indent="-342900">
              <a:buFont typeface="Arial" panose="020B0604020202020204" pitchFamily="34" charset="0"/>
              <a:buChar char="•"/>
            </a:pPr>
            <a:r>
              <a:rPr lang="en-US" sz="2000" dirty="0">
                <a:solidFill>
                  <a:schemeClr val="tx1"/>
                </a:solidFill>
              </a:rPr>
              <a:t>the validation phase (15%)</a:t>
            </a:r>
          </a:p>
        </p:txBody>
      </p:sp>
      <p:sp>
        <p:nvSpPr>
          <p:cNvPr id="12" name="Rectangle: Rounded Corners 11">
            <a:extLst>
              <a:ext uri="{FF2B5EF4-FFF2-40B4-BE49-F238E27FC236}">
                <a16:creationId xmlns:a16="http://schemas.microsoft.com/office/drawing/2014/main" id="{C79D6F03-24BE-A88B-63F0-43E9589AB817}"/>
              </a:ext>
            </a:extLst>
          </p:cNvPr>
          <p:cNvSpPr/>
          <p:nvPr/>
        </p:nvSpPr>
        <p:spPr>
          <a:xfrm>
            <a:off x="8023988" y="2466487"/>
            <a:ext cx="3660014" cy="24093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Apply the scaler to transform the training set and use the same scaler to transform the test and validation sets. </a:t>
            </a:r>
          </a:p>
        </p:txBody>
      </p:sp>
    </p:spTree>
    <p:extLst>
      <p:ext uri="{BB962C8B-B14F-4D97-AF65-F5344CB8AC3E}">
        <p14:creationId xmlns:p14="http://schemas.microsoft.com/office/powerpoint/2010/main" val="569699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08221-C29B-07A3-B569-B8B466B1020B}"/>
              </a:ext>
            </a:extLst>
          </p:cNvPr>
          <p:cNvSpPr>
            <a:spLocks noGrp="1"/>
          </p:cNvSpPr>
          <p:nvPr>
            <p:ph type="title"/>
          </p:nvPr>
        </p:nvSpPr>
        <p:spPr>
          <a:xfrm>
            <a:off x="6096000" y="375285"/>
            <a:ext cx="4896678" cy="3624984"/>
          </a:xfrm>
        </p:spPr>
        <p:txBody>
          <a:bodyPr>
            <a:normAutofit/>
          </a:bodyPr>
          <a:lstStyle/>
          <a:p>
            <a:r>
              <a:rPr lang="en-US" sz="6000" dirty="0"/>
              <a:t>SVC</a:t>
            </a:r>
          </a:p>
        </p:txBody>
      </p:sp>
      <p:sp>
        <p:nvSpPr>
          <p:cNvPr id="3" name="Content Placeholder 2">
            <a:extLst>
              <a:ext uri="{FF2B5EF4-FFF2-40B4-BE49-F238E27FC236}">
                <a16:creationId xmlns:a16="http://schemas.microsoft.com/office/drawing/2014/main" id="{D6BEA7D4-8B96-5A0E-252E-6B8E8B1CF178}"/>
              </a:ext>
            </a:extLst>
          </p:cNvPr>
          <p:cNvSpPr>
            <a:spLocks noGrp="1"/>
          </p:cNvSpPr>
          <p:nvPr>
            <p:ph sz="quarter" idx="10"/>
          </p:nvPr>
        </p:nvSpPr>
        <p:spPr>
          <a:xfrm>
            <a:off x="6096000" y="4172990"/>
            <a:ext cx="4896677" cy="2309726"/>
          </a:xfrm>
        </p:spPr>
        <p:txBody>
          <a:bodyPr/>
          <a:lstStyle/>
          <a:p>
            <a:r>
              <a:rPr lang="en-US" dirty="0"/>
              <a:t>(SUPPORT VECTOR CLASSIFIER)</a:t>
            </a:r>
            <a:endParaRPr lang="en-US" noProof="1"/>
          </a:p>
        </p:txBody>
      </p:sp>
      <p:pic>
        <p:nvPicPr>
          <p:cNvPr id="6" name="Picture 5" descr="SVM (Support Vector Machines) diagram vector image | Free SVG">
            <a:extLst>
              <a:ext uri="{FF2B5EF4-FFF2-40B4-BE49-F238E27FC236}">
                <a16:creationId xmlns:a16="http://schemas.microsoft.com/office/drawing/2014/main" id="{3DEC8D59-AB53-F1BA-26DD-B764B5F4EE8B}"/>
              </a:ext>
            </a:extLst>
          </p:cNvPr>
          <p:cNvPicPr>
            <a:picLocks noChangeAspect="1"/>
          </p:cNvPicPr>
          <p:nvPr/>
        </p:nvPicPr>
        <p:blipFill>
          <a:blip r:embed="rId3"/>
          <a:stretch>
            <a:fillRect/>
          </a:stretch>
        </p:blipFill>
        <p:spPr>
          <a:xfrm>
            <a:off x="359984" y="703490"/>
            <a:ext cx="5339292" cy="5339292"/>
          </a:xfrm>
          <a:prstGeom prst="rect">
            <a:avLst/>
          </a:prstGeom>
        </p:spPr>
      </p:pic>
    </p:spTree>
    <p:extLst>
      <p:ext uri="{BB962C8B-B14F-4D97-AF65-F5344CB8AC3E}">
        <p14:creationId xmlns:p14="http://schemas.microsoft.com/office/powerpoint/2010/main" val="1760417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BC3B8-02F6-1DB0-730B-335E0034894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9C0FEE-C61D-B5BE-2D80-67264EEB136F}"/>
              </a:ext>
            </a:extLst>
          </p:cNvPr>
          <p:cNvSpPr>
            <a:spLocks noGrp="1"/>
          </p:cNvSpPr>
          <p:nvPr>
            <p:ph sz="quarter" idx="10"/>
          </p:nvPr>
        </p:nvSpPr>
        <p:spPr>
          <a:xfrm>
            <a:off x="719378" y="2300566"/>
            <a:ext cx="10300556" cy="2097038"/>
          </a:xfrm>
          <a:noFill/>
        </p:spPr>
        <p:style>
          <a:lnRef idx="2">
            <a:schemeClr val="dk1"/>
          </a:lnRef>
          <a:fillRef idx="1">
            <a:schemeClr val="lt1"/>
          </a:fillRef>
          <a:effectRef idx="0">
            <a:schemeClr val="dk1"/>
          </a:effectRef>
          <a:fontRef idx="minor">
            <a:schemeClr val="dk1"/>
          </a:fontRef>
        </p:style>
        <p:txBody>
          <a:bodyPr>
            <a:normAutofit/>
          </a:bodyPr>
          <a:lstStyle/>
          <a:p>
            <a:r>
              <a:rPr lang="en-US" dirty="0"/>
              <a:t>2D classification is projected into a higher dimension to find an optimal hyperplane to separate. </a:t>
            </a:r>
          </a:p>
          <a:p>
            <a:r>
              <a:rPr lang="en-US" dirty="0"/>
              <a:t>The model's linearity is influenced by the gamma parameter, while the regularization parameter C controls the trade-off between margin width and misclassification rate.</a:t>
            </a:r>
          </a:p>
          <a:p>
            <a:r>
              <a:rPr lang="en-US" dirty="0"/>
              <a:t>With the grid search approach, it is possible to tune the two parameters (gamma and C). </a:t>
            </a:r>
            <a:endParaRPr lang="en-US" noProof="1"/>
          </a:p>
          <a:p>
            <a:endParaRPr lang="en-US" noProof="1"/>
          </a:p>
        </p:txBody>
      </p:sp>
      <p:sp>
        <p:nvSpPr>
          <p:cNvPr id="5" name="Slide Number Placeholder 4">
            <a:extLst>
              <a:ext uri="{FF2B5EF4-FFF2-40B4-BE49-F238E27FC236}">
                <a16:creationId xmlns:a16="http://schemas.microsoft.com/office/drawing/2014/main" id="{D9800F26-17FB-97E3-DC2E-FB763BD1B352}"/>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10</a:t>
            </a:fld>
            <a:endParaRPr lang="en-US" dirty="0"/>
          </a:p>
        </p:txBody>
      </p:sp>
      <p:pic>
        <p:nvPicPr>
          <p:cNvPr id="6" name="Picture 5" descr="SVM (Support Vector Machines) diagram vector image | Free SVG">
            <a:extLst>
              <a:ext uri="{FF2B5EF4-FFF2-40B4-BE49-F238E27FC236}">
                <a16:creationId xmlns:a16="http://schemas.microsoft.com/office/drawing/2014/main" id="{3EA89F59-DF22-06A1-3D19-D5F371B09165}"/>
              </a:ext>
            </a:extLst>
          </p:cNvPr>
          <p:cNvPicPr>
            <a:picLocks noChangeAspect="1"/>
          </p:cNvPicPr>
          <p:nvPr/>
        </p:nvPicPr>
        <p:blipFill>
          <a:blip r:embed="rId3"/>
          <a:stretch>
            <a:fillRect/>
          </a:stretch>
        </p:blipFill>
        <p:spPr>
          <a:xfrm>
            <a:off x="11322624" y="5991286"/>
            <a:ext cx="716976" cy="716976"/>
          </a:xfrm>
          <a:prstGeom prst="rect">
            <a:avLst/>
          </a:prstGeom>
        </p:spPr>
      </p:pic>
    </p:spTree>
    <p:extLst>
      <p:ext uri="{BB962C8B-B14F-4D97-AF65-F5344CB8AC3E}">
        <p14:creationId xmlns:p14="http://schemas.microsoft.com/office/powerpoint/2010/main" val="3101163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8B672BC8-D7EC-066C-9025-5F29713D8495}"/>
              </a:ext>
            </a:extLst>
          </p:cNvPr>
          <p:cNvSpPr>
            <a:spLocks noGrp="1"/>
          </p:cNvSpPr>
          <p:nvPr>
            <p:ph sz="quarter" idx="10"/>
          </p:nvPr>
        </p:nvSpPr>
        <p:spPr>
          <a:xfrm>
            <a:off x="1290702" y="4620380"/>
            <a:ext cx="4668763" cy="1470782"/>
          </a:xfrm>
        </p:spPr>
        <p:txBody>
          <a:bodyPr>
            <a:normAutofit/>
          </a:bodyPr>
          <a:lstStyle/>
          <a:p>
            <a:r>
              <a:rPr lang="en-US" dirty="0"/>
              <a:t>SVC accuracy on test data is: 94.01 %</a:t>
            </a:r>
          </a:p>
          <a:p>
            <a:r>
              <a:rPr lang="en-US" dirty="0"/>
              <a:t>Successful Navigation Rate: 94.01 %</a:t>
            </a:r>
          </a:p>
          <a:p>
            <a:r>
              <a:rPr lang="en-US" dirty="0"/>
              <a:t>Collision Rate: 5.99 %</a:t>
            </a:r>
          </a:p>
        </p:txBody>
      </p:sp>
      <p:pic>
        <p:nvPicPr>
          <p:cNvPr id="10" name="Picture 9">
            <a:extLst>
              <a:ext uri="{FF2B5EF4-FFF2-40B4-BE49-F238E27FC236}">
                <a16:creationId xmlns:a16="http://schemas.microsoft.com/office/drawing/2014/main" id="{25238E25-DA1E-F9F4-7859-9224F4252C12}"/>
              </a:ext>
            </a:extLst>
          </p:cNvPr>
          <p:cNvPicPr>
            <a:picLocks noChangeAspect="1"/>
          </p:cNvPicPr>
          <p:nvPr/>
        </p:nvPicPr>
        <p:blipFill>
          <a:blip r:embed="rId3"/>
          <a:stretch>
            <a:fillRect/>
          </a:stretch>
        </p:blipFill>
        <p:spPr>
          <a:xfrm>
            <a:off x="1078894" y="453283"/>
            <a:ext cx="4626205" cy="4087269"/>
          </a:xfrm>
          <a:prstGeom prst="rect">
            <a:avLst/>
          </a:prstGeom>
        </p:spPr>
      </p:pic>
      <p:sp>
        <p:nvSpPr>
          <p:cNvPr id="11" name="Content Placeholder 7">
            <a:extLst>
              <a:ext uri="{FF2B5EF4-FFF2-40B4-BE49-F238E27FC236}">
                <a16:creationId xmlns:a16="http://schemas.microsoft.com/office/drawing/2014/main" id="{069D3674-1F05-31F5-5E75-0D3E2EEDE032}"/>
              </a:ext>
            </a:extLst>
          </p:cNvPr>
          <p:cNvSpPr txBox="1">
            <a:spLocks/>
          </p:cNvSpPr>
          <p:nvPr/>
        </p:nvSpPr>
        <p:spPr>
          <a:xfrm>
            <a:off x="5959465" y="4620379"/>
            <a:ext cx="5792269" cy="154335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One-vs-Rest SVC accuracy on test data is: 98.11 %</a:t>
            </a:r>
          </a:p>
          <a:p>
            <a:r>
              <a:rPr lang="en-US" dirty="0"/>
              <a:t>Successful Navigation Rate: 98.17 %</a:t>
            </a:r>
          </a:p>
          <a:p>
            <a:r>
              <a:rPr lang="en-US" dirty="0"/>
              <a:t>Collision Rate: 1.83 %</a:t>
            </a:r>
          </a:p>
        </p:txBody>
      </p:sp>
      <p:pic>
        <p:nvPicPr>
          <p:cNvPr id="15" name="Picture 14">
            <a:extLst>
              <a:ext uri="{FF2B5EF4-FFF2-40B4-BE49-F238E27FC236}">
                <a16:creationId xmlns:a16="http://schemas.microsoft.com/office/drawing/2014/main" id="{9E1FD39B-DB42-0373-6A31-527E31FB2079}"/>
              </a:ext>
            </a:extLst>
          </p:cNvPr>
          <p:cNvPicPr>
            <a:picLocks noChangeAspect="1"/>
          </p:cNvPicPr>
          <p:nvPr/>
        </p:nvPicPr>
        <p:blipFill>
          <a:blip r:embed="rId4"/>
          <a:stretch>
            <a:fillRect/>
          </a:stretch>
        </p:blipFill>
        <p:spPr>
          <a:xfrm>
            <a:off x="6409988" y="453283"/>
            <a:ext cx="4702294" cy="4132762"/>
          </a:xfrm>
          <a:prstGeom prst="rect">
            <a:avLst/>
          </a:prstGeom>
        </p:spPr>
      </p:pic>
      <p:sp>
        <p:nvSpPr>
          <p:cNvPr id="17" name="Content Placeholder 7">
            <a:extLst>
              <a:ext uri="{FF2B5EF4-FFF2-40B4-BE49-F238E27FC236}">
                <a16:creationId xmlns:a16="http://schemas.microsoft.com/office/drawing/2014/main" id="{ACE166F6-B213-CF6A-0305-47A3488D9C45}"/>
              </a:ext>
            </a:extLst>
          </p:cNvPr>
          <p:cNvSpPr txBox="1">
            <a:spLocks/>
          </p:cNvSpPr>
          <p:nvPr/>
        </p:nvSpPr>
        <p:spPr>
          <a:xfrm>
            <a:off x="1078894" y="4256220"/>
            <a:ext cx="3424813" cy="5686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Without Grid Search</a:t>
            </a:r>
          </a:p>
        </p:txBody>
      </p:sp>
      <p:sp>
        <p:nvSpPr>
          <p:cNvPr id="19" name="Content Placeholder 7">
            <a:extLst>
              <a:ext uri="{FF2B5EF4-FFF2-40B4-BE49-F238E27FC236}">
                <a16:creationId xmlns:a16="http://schemas.microsoft.com/office/drawing/2014/main" id="{3E679EEC-8FAA-39A0-595C-24D11373238E}"/>
              </a:ext>
            </a:extLst>
          </p:cNvPr>
          <p:cNvSpPr txBox="1">
            <a:spLocks/>
          </p:cNvSpPr>
          <p:nvPr/>
        </p:nvSpPr>
        <p:spPr>
          <a:xfrm>
            <a:off x="6352234" y="4285433"/>
            <a:ext cx="3424813" cy="5686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With Grid Search</a:t>
            </a:r>
          </a:p>
        </p:txBody>
      </p:sp>
      <p:pic>
        <p:nvPicPr>
          <p:cNvPr id="23" name="Picture 22" descr="SVM (Support Vector Machines) diagram vector image | Free SVG">
            <a:extLst>
              <a:ext uri="{FF2B5EF4-FFF2-40B4-BE49-F238E27FC236}">
                <a16:creationId xmlns:a16="http://schemas.microsoft.com/office/drawing/2014/main" id="{C309AC2F-F7F2-417B-C5E6-3161D0FE96B2}"/>
              </a:ext>
            </a:extLst>
          </p:cNvPr>
          <p:cNvPicPr>
            <a:picLocks noChangeAspect="1"/>
          </p:cNvPicPr>
          <p:nvPr/>
        </p:nvPicPr>
        <p:blipFill>
          <a:blip r:embed="rId5"/>
          <a:stretch>
            <a:fillRect/>
          </a:stretch>
        </p:blipFill>
        <p:spPr>
          <a:xfrm>
            <a:off x="11322624" y="5991286"/>
            <a:ext cx="716976" cy="716976"/>
          </a:xfrm>
          <a:prstGeom prst="rect">
            <a:avLst/>
          </a:prstGeom>
        </p:spPr>
      </p:pic>
    </p:spTree>
    <p:extLst>
      <p:ext uri="{BB962C8B-B14F-4D97-AF65-F5344CB8AC3E}">
        <p14:creationId xmlns:p14="http://schemas.microsoft.com/office/powerpoint/2010/main" val="56176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F7495-E224-E7D9-2AA9-84EBDB6FF365}"/>
            </a:ext>
          </a:extLst>
        </p:cNvPr>
        <p:cNvGrpSpPr/>
        <p:nvPr/>
      </p:nvGrpSpPr>
      <p:grpSpPr>
        <a:xfrm>
          <a:off x="0" y="0"/>
          <a:ext cx="0" cy="0"/>
          <a:chOff x="0" y="0"/>
          <a:chExt cx="0" cy="0"/>
        </a:xfrm>
      </p:grpSpPr>
      <p:sp>
        <p:nvSpPr>
          <p:cNvPr id="17" name="Content Placeholder 7">
            <a:extLst>
              <a:ext uri="{FF2B5EF4-FFF2-40B4-BE49-F238E27FC236}">
                <a16:creationId xmlns:a16="http://schemas.microsoft.com/office/drawing/2014/main" id="{EE990904-944C-B151-2167-958E9D85B99D}"/>
              </a:ext>
            </a:extLst>
          </p:cNvPr>
          <p:cNvSpPr txBox="1">
            <a:spLocks/>
          </p:cNvSpPr>
          <p:nvPr/>
        </p:nvSpPr>
        <p:spPr>
          <a:xfrm>
            <a:off x="2080518" y="4834088"/>
            <a:ext cx="2404007" cy="5686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Without Grid Search</a:t>
            </a:r>
          </a:p>
        </p:txBody>
      </p:sp>
      <p:sp>
        <p:nvSpPr>
          <p:cNvPr id="19" name="Content Placeholder 7">
            <a:extLst>
              <a:ext uri="{FF2B5EF4-FFF2-40B4-BE49-F238E27FC236}">
                <a16:creationId xmlns:a16="http://schemas.microsoft.com/office/drawing/2014/main" id="{E222045F-D4F6-AB8F-CC9F-FEB920545F90}"/>
              </a:ext>
            </a:extLst>
          </p:cNvPr>
          <p:cNvSpPr txBox="1">
            <a:spLocks/>
          </p:cNvSpPr>
          <p:nvPr/>
        </p:nvSpPr>
        <p:spPr>
          <a:xfrm>
            <a:off x="7852004" y="4834088"/>
            <a:ext cx="2085646" cy="5686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With Grid Search</a:t>
            </a:r>
          </a:p>
        </p:txBody>
      </p:sp>
      <p:pic>
        <p:nvPicPr>
          <p:cNvPr id="3" name="Picture 2">
            <a:extLst>
              <a:ext uri="{FF2B5EF4-FFF2-40B4-BE49-F238E27FC236}">
                <a16:creationId xmlns:a16="http://schemas.microsoft.com/office/drawing/2014/main" id="{DBFB436C-88F3-922E-4672-38578367266F}"/>
              </a:ext>
            </a:extLst>
          </p:cNvPr>
          <p:cNvPicPr>
            <a:picLocks noChangeAspect="1"/>
          </p:cNvPicPr>
          <p:nvPr/>
        </p:nvPicPr>
        <p:blipFill>
          <a:blip r:embed="rId3"/>
          <a:stretch>
            <a:fillRect/>
          </a:stretch>
        </p:blipFill>
        <p:spPr>
          <a:xfrm>
            <a:off x="640749" y="1582741"/>
            <a:ext cx="5283546" cy="3161554"/>
          </a:xfrm>
          <a:prstGeom prst="rect">
            <a:avLst/>
          </a:prstGeom>
        </p:spPr>
      </p:pic>
      <p:pic>
        <p:nvPicPr>
          <p:cNvPr id="5" name="Picture 4">
            <a:extLst>
              <a:ext uri="{FF2B5EF4-FFF2-40B4-BE49-F238E27FC236}">
                <a16:creationId xmlns:a16="http://schemas.microsoft.com/office/drawing/2014/main" id="{5908DAE0-EE04-9CC5-3D94-AF4DCCC4C5E9}"/>
              </a:ext>
            </a:extLst>
          </p:cNvPr>
          <p:cNvPicPr>
            <a:picLocks noChangeAspect="1"/>
          </p:cNvPicPr>
          <p:nvPr/>
        </p:nvPicPr>
        <p:blipFill>
          <a:blip r:embed="rId4"/>
          <a:stretch>
            <a:fillRect/>
          </a:stretch>
        </p:blipFill>
        <p:spPr>
          <a:xfrm>
            <a:off x="6002884" y="1582741"/>
            <a:ext cx="5283546" cy="3165406"/>
          </a:xfrm>
          <a:prstGeom prst="rect">
            <a:avLst/>
          </a:prstGeom>
        </p:spPr>
      </p:pic>
      <p:pic>
        <p:nvPicPr>
          <p:cNvPr id="12" name="Picture 11" descr="SVM (Support Vector Machines) diagram vector image | Free SVG">
            <a:extLst>
              <a:ext uri="{FF2B5EF4-FFF2-40B4-BE49-F238E27FC236}">
                <a16:creationId xmlns:a16="http://schemas.microsoft.com/office/drawing/2014/main" id="{2B178075-EB56-0617-387D-53EF7D9E2263}"/>
              </a:ext>
            </a:extLst>
          </p:cNvPr>
          <p:cNvPicPr>
            <a:picLocks noChangeAspect="1"/>
          </p:cNvPicPr>
          <p:nvPr/>
        </p:nvPicPr>
        <p:blipFill>
          <a:blip r:embed="rId5"/>
          <a:stretch>
            <a:fillRect/>
          </a:stretch>
        </p:blipFill>
        <p:spPr>
          <a:xfrm>
            <a:off x="11322624" y="5991286"/>
            <a:ext cx="716976" cy="716976"/>
          </a:xfrm>
          <a:prstGeom prst="rect">
            <a:avLst/>
          </a:prstGeom>
        </p:spPr>
      </p:pic>
    </p:spTree>
    <p:extLst>
      <p:ext uri="{BB962C8B-B14F-4D97-AF65-F5344CB8AC3E}">
        <p14:creationId xmlns:p14="http://schemas.microsoft.com/office/powerpoint/2010/main" val="2777143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EFDEB-2691-D597-6D57-0FD382D8F1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43C30-9B66-2641-189F-6F95AC3AE4F2}"/>
              </a:ext>
            </a:extLst>
          </p:cNvPr>
          <p:cNvSpPr>
            <a:spLocks noGrp="1"/>
          </p:cNvSpPr>
          <p:nvPr>
            <p:ph type="title"/>
          </p:nvPr>
        </p:nvSpPr>
        <p:spPr>
          <a:xfrm>
            <a:off x="6028268" y="2622245"/>
            <a:ext cx="5525104" cy="2298095"/>
          </a:xfrm>
        </p:spPr>
        <p:txBody>
          <a:bodyPr>
            <a:normAutofit/>
          </a:bodyPr>
          <a:lstStyle/>
          <a:p>
            <a:r>
              <a:rPr lang="en-US" sz="6000" dirty="0"/>
              <a:t>RANDOM FOREST</a:t>
            </a:r>
          </a:p>
        </p:txBody>
      </p:sp>
      <p:pic>
        <p:nvPicPr>
          <p:cNvPr id="7" name="Picture 6" descr="Random Forest Black Line Icon Digital Stock Vector (Royalty Free)  2618915177 | Shutterstock">
            <a:extLst>
              <a:ext uri="{FF2B5EF4-FFF2-40B4-BE49-F238E27FC236}">
                <a16:creationId xmlns:a16="http://schemas.microsoft.com/office/drawing/2014/main" id="{63355262-0EA3-4906-0E83-8D6D67372C6D}"/>
              </a:ext>
            </a:extLst>
          </p:cNvPr>
          <p:cNvPicPr>
            <a:picLocks noChangeAspect="1"/>
          </p:cNvPicPr>
          <p:nvPr/>
        </p:nvPicPr>
        <p:blipFill>
          <a:blip r:embed="rId3"/>
          <a:srcRect l="9567" t="10051" r="9897" b="16083"/>
          <a:stretch>
            <a:fillRect/>
          </a:stretch>
        </p:blipFill>
        <p:spPr>
          <a:xfrm>
            <a:off x="379336" y="722842"/>
            <a:ext cx="5339292" cy="5273862"/>
          </a:xfrm>
          <a:prstGeom prst="rect">
            <a:avLst/>
          </a:prstGeom>
        </p:spPr>
      </p:pic>
    </p:spTree>
    <p:extLst>
      <p:ext uri="{BB962C8B-B14F-4D97-AF65-F5344CB8AC3E}">
        <p14:creationId xmlns:p14="http://schemas.microsoft.com/office/powerpoint/2010/main" val="1249241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17BD1-F15A-C38B-0488-AB0466F7B8AB}"/>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EBF6D00-3A7E-7898-7DA8-D5BC63B1FA5B}"/>
              </a:ext>
            </a:extLst>
          </p:cNvPr>
          <p:cNvSpPr>
            <a:spLocks noGrp="1"/>
          </p:cNvSpPr>
          <p:nvPr>
            <p:ph sz="quarter" idx="10"/>
          </p:nvPr>
        </p:nvSpPr>
        <p:spPr>
          <a:xfrm>
            <a:off x="527539" y="4620380"/>
            <a:ext cx="5655733" cy="1470782"/>
          </a:xfrm>
        </p:spPr>
        <p:txBody>
          <a:bodyPr>
            <a:normAutofit/>
          </a:bodyPr>
          <a:lstStyle/>
          <a:p>
            <a:r>
              <a:rPr lang="en-US" dirty="0"/>
              <a:t>Random Forest accuracy on test data is: 100.00 %</a:t>
            </a:r>
          </a:p>
          <a:p>
            <a:r>
              <a:rPr lang="en-US" dirty="0"/>
              <a:t>Successful Navigation Rate: 100.00 % </a:t>
            </a:r>
          </a:p>
          <a:p>
            <a:r>
              <a:rPr lang="en-US" dirty="0"/>
              <a:t>Collision Rate: 0.00 %</a:t>
            </a:r>
          </a:p>
        </p:txBody>
      </p:sp>
      <p:sp>
        <p:nvSpPr>
          <p:cNvPr id="11" name="Content Placeholder 7">
            <a:extLst>
              <a:ext uri="{FF2B5EF4-FFF2-40B4-BE49-F238E27FC236}">
                <a16:creationId xmlns:a16="http://schemas.microsoft.com/office/drawing/2014/main" id="{EC26D93C-8970-96CF-9151-9F462B4A4B99}"/>
              </a:ext>
            </a:extLst>
          </p:cNvPr>
          <p:cNvSpPr txBox="1">
            <a:spLocks/>
          </p:cNvSpPr>
          <p:nvPr/>
        </p:nvSpPr>
        <p:spPr>
          <a:xfrm>
            <a:off x="6096000" y="4620379"/>
            <a:ext cx="5655734" cy="154335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Random Forest accuracy on test data is: 100.00 %</a:t>
            </a:r>
          </a:p>
          <a:p>
            <a:r>
              <a:rPr lang="en-US" dirty="0"/>
              <a:t>Successful Navigation Rate: 100.00 % </a:t>
            </a:r>
          </a:p>
          <a:p>
            <a:r>
              <a:rPr lang="en-US" dirty="0"/>
              <a:t>Collision Rate: 0.00 %</a:t>
            </a:r>
          </a:p>
        </p:txBody>
      </p:sp>
      <p:pic>
        <p:nvPicPr>
          <p:cNvPr id="13" name="Picture 12">
            <a:extLst>
              <a:ext uri="{FF2B5EF4-FFF2-40B4-BE49-F238E27FC236}">
                <a16:creationId xmlns:a16="http://schemas.microsoft.com/office/drawing/2014/main" id="{01B03A56-F6D2-141F-DB48-33671A16B9DF}"/>
              </a:ext>
            </a:extLst>
          </p:cNvPr>
          <p:cNvPicPr>
            <a:picLocks noChangeAspect="1"/>
          </p:cNvPicPr>
          <p:nvPr/>
        </p:nvPicPr>
        <p:blipFill>
          <a:blip r:embed="rId3"/>
          <a:stretch>
            <a:fillRect/>
          </a:stretch>
        </p:blipFill>
        <p:spPr>
          <a:xfrm>
            <a:off x="1006807" y="387752"/>
            <a:ext cx="4626205" cy="4091622"/>
          </a:xfrm>
          <a:prstGeom prst="rect">
            <a:avLst/>
          </a:prstGeom>
        </p:spPr>
      </p:pic>
      <p:pic>
        <p:nvPicPr>
          <p:cNvPr id="3" name="Picture 2">
            <a:extLst>
              <a:ext uri="{FF2B5EF4-FFF2-40B4-BE49-F238E27FC236}">
                <a16:creationId xmlns:a16="http://schemas.microsoft.com/office/drawing/2014/main" id="{2AF8F61E-9843-857F-629E-1E778B5CB8E2}"/>
              </a:ext>
            </a:extLst>
          </p:cNvPr>
          <p:cNvPicPr>
            <a:picLocks noChangeAspect="1"/>
          </p:cNvPicPr>
          <p:nvPr/>
        </p:nvPicPr>
        <p:blipFill>
          <a:blip r:embed="rId4"/>
          <a:stretch>
            <a:fillRect/>
          </a:stretch>
        </p:blipFill>
        <p:spPr>
          <a:xfrm>
            <a:off x="6517816" y="387753"/>
            <a:ext cx="4626205" cy="4091621"/>
          </a:xfrm>
          <a:prstGeom prst="rect">
            <a:avLst/>
          </a:prstGeom>
        </p:spPr>
      </p:pic>
      <p:sp>
        <p:nvSpPr>
          <p:cNvPr id="4" name="Content Placeholder 7">
            <a:extLst>
              <a:ext uri="{FF2B5EF4-FFF2-40B4-BE49-F238E27FC236}">
                <a16:creationId xmlns:a16="http://schemas.microsoft.com/office/drawing/2014/main" id="{AC002817-117A-B513-B4DA-9FF6AA6FE632}"/>
              </a:ext>
            </a:extLst>
          </p:cNvPr>
          <p:cNvSpPr txBox="1">
            <a:spLocks/>
          </p:cNvSpPr>
          <p:nvPr/>
        </p:nvSpPr>
        <p:spPr>
          <a:xfrm>
            <a:off x="938195" y="4195042"/>
            <a:ext cx="3424813" cy="5686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Without Grid Search</a:t>
            </a:r>
          </a:p>
        </p:txBody>
      </p:sp>
      <p:sp>
        <p:nvSpPr>
          <p:cNvPr id="6" name="Content Placeholder 7">
            <a:extLst>
              <a:ext uri="{FF2B5EF4-FFF2-40B4-BE49-F238E27FC236}">
                <a16:creationId xmlns:a16="http://schemas.microsoft.com/office/drawing/2014/main" id="{20B1F61E-123B-57CD-25C2-74F916537FAB}"/>
              </a:ext>
            </a:extLst>
          </p:cNvPr>
          <p:cNvSpPr txBox="1">
            <a:spLocks/>
          </p:cNvSpPr>
          <p:nvPr/>
        </p:nvSpPr>
        <p:spPr>
          <a:xfrm>
            <a:off x="6479512" y="4195043"/>
            <a:ext cx="3424813" cy="5686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With Grid Search</a:t>
            </a:r>
          </a:p>
        </p:txBody>
      </p:sp>
      <p:pic>
        <p:nvPicPr>
          <p:cNvPr id="9" name="Picture 8" descr="Random Forest Black Line Icon Digital Stock Vector (Royalty Free)  2618915177 | Shutterstock">
            <a:extLst>
              <a:ext uri="{FF2B5EF4-FFF2-40B4-BE49-F238E27FC236}">
                <a16:creationId xmlns:a16="http://schemas.microsoft.com/office/drawing/2014/main" id="{EEFB2BF0-D5BA-A8E0-8985-0001A310047D}"/>
              </a:ext>
            </a:extLst>
          </p:cNvPr>
          <p:cNvPicPr>
            <a:picLocks noChangeAspect="1"/>
          </p:cNvPicPr>
          <p:nvPr/>
        </p:nvPicPr>
        <p:blipFill>
          <a:blip r:embed="rId5"/>
          <a:srcRect l="9567" t="10051" r="9897" b="16083"/>
          <a:stretch>
            <a:fillRect/>
          </a:stretch>
        </p:blipFill>
        <p:spPr>
          <a:xfrm>
            <a:off x="10997731" y="5702860"/>
            <a:ext cx="850024" cy="839608"/>
          </a:xfrm>
          <a:prstGeom prst="rect">
            <a:avLst/>
          </a:prstGeom>
        </p:spPr>
      </p:pic>
    </p:spTree>
    <p:extLst>
      <p:ext uri="{BB962C8B-B14F-4D97-AF65-F5344CB8AC3E}">
        <p14:creationId xmlns:p14="http://schemas.microsoft.com/office/powerpoint/2010/main" val="3090281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6C452-BF82-3CFF-6C92-BBEF74F4C9AD}"/>
            </a:ext>
          </a:extLst>
        </p:cNvPr>
        <p:cNvGrpSpPr/>
        <p:nvPr/>
      </p:nvGrpSpPr>
      <p:grpSpPr>
        <a:xfrm>
          <a:off x="0" y="0"/>
          <a:ext cx="0" cy="0"/>
          <a:chOff x="0" y="0"/>
          <a:chExt cx="0" cy="0"/>
        </a:xfrm>
      </p:grpSpPr>
      <p:sp>
        <p:nvSpPr>
          <p:cNvPr id="17" name="Content Placeholder 7">
            <a:extLst>
              <a:ext uri="{FF2B5EF4-FFF2-40B4-BE49-F238E27FC236}">
                <a16:creationId xmlns:a16="http://schemas.microsoft.com/office/drawing/2014/main" id="{6932BE91-E717-6558-C440-87DD81293697}"/>
              </a:ext>
            </a:extLst>
          </p:cNvPr>
          <p:cNvSpPr txBox="1">
            <a:spLocks/>
          </p:cNvSpPr>
          <p:nvPr/>
        </p:nvSpPr>
        <p:spPr>
          <a:xfrm>
            <a:off x="2080518" y="4834088"/>
            <a:ext cx="2404007" cy="5686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Without Grid Search</a:t>
            </a:r>
          </a:p>
        </p:txBody>
      </p:sp>
      <p:sp>
        <p:nvSpPr>
          <p:cNvPr id="19" name="Content Placeholder 7">
            <a:extLst>
              <a:ext uri="{FF2B5EF4-FFF2-40B4-BE49-F238E27FC236}">
                <a16:creationId xmlns:a16="http://schemas.microsoft.com/office/drawing/2014/main" id="{0AE9E5F3-1D9F-43B4-86DD-58767EE245DE}"/>
              </a:ext>
            </a:extLst>
          </p:cNvPr>
          <p:cNvSpPr txBox="1">
            <a:spLocks/>
          </p:cNvSpPr>
          <p:nvPr/>
        </p:nvSpPr>
        <p:spPr>
          <a:xfrm>
            <a:off x="7852004" y="4834088"/>
            <a:ext cx="2085646" cy="5686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With Grid Search</a:t>
            </a:r>
          </a:p>
        </p:txBody>
      </p:sp>
      <p:pic>
        <p:nvPicPr>
          <p:cNvPr id="4" name="Picture 3" descr="Random Forest Black Line Icon Digital Stock Vector (Royalty Free)  2618915177 | Shutterstock">
            <a:extLst>
              <a:ext uri="{FF2B5EF4-FFF2-40B4-BE49-F238E27FC236}">
                <a16:creationId xmlns:a16="http://schemas.microsoft.com/office/drawing/2014/main" id="{B8454631-B2D3-447D-3D2C-A9AD90E9D12C}"/>
              </a:ext>
            </a:extLst>
          </p:cNvPr>
          <p:cNvPicPr>
            <a:picLocks noChangeAspect="1"/>
          </p:cNvPicPr>
          <p:nvPr/>
        </p:nvPicPr>
        <p:blipFill>
          <a:blip r:embed="rId3"/>
          <a:srcRect l="9567" t="10051" r="9897" b="16083"/>
          <a:stretch>
            <a:fillRect/>
          </a:stretch>
        </p:blipFill>
        <p:spPr>
          <a:xfrm>
            <a:off x="10997731" y="5702860"/>
            <a:ext cx="850024" cy="839608"/>
          </a:xfrm>
          <a:prstGeom prst="rect">
            <a:avLst/>
          </a:prstGeom>
        </p:spPr>
      </p:pic>
      <p:pic>
        <p:nvPicPr>
          <p:cNvPr id="7" name="Picture 6">
            <a:extLst>
              <a:ext uri="{FF2B5EF4-FFF2-40B4-BE49-F238E27FC236}">
                <a16:creationId xmlns:a16="http://schemas.microsoft.com/office/drawing/2014/main" id="{54ABEFAE-13BB-79DC-E7A7-4026F1C4073D}"/>
              </a:ext>
            </a:extLst>
          </p:cNvPr>
          <p:cNvPicPr>
            <a:picLocks noChangeAspect="1"/>
          </p:cNvPicPr>
          <p:nvPr/>
        </p:nvPicPr>
        <p:blipFill>
          <a:blip r:embed="rId4"/>
          <a:stretch>
            <a:fillRect/>
          </a:stretch>
        </p:blipFill>
        <p:spPr>
          <a:xfrm>
            <a:off x="597940" y="1582742"/>
            <a:ext cx="5294275" cy="3165406"/>
          </a:xfrm>
          <a:prstGeom prst="rect">
            <a:avLst/>
          </a:prstGeom>
        </p:spPr>
      </p:pic>
      <p:pic>
        <p:nvPicPr>
          <p:cNvPr id="9" name="Picture 8">
            <a:extLst>
              <a:ext uri="{FF2B5EF4-FFF2-40B4-BE49-F238E27FC236}">
                <a16:creationId xmlns:a16="http://schemas.microsoft.com/office/drawing/2014/main" id="{A6387D41-F7A1-2455-98BC-A04B467CB1E3}"/>
              </a:ext>
            </a:extLst>
          </p:cNvPr>
          <p:cNvPicPr>
            <a:picLocks noChangeAspect="1"/>
          </p:cNvPicPr>
          <p:nvPr/>
        </p:nvPicPr>
        <p:blipFill>
          <a:blip r:embed="rId5"/>
          <a:stretch>
            <a:fillRect/>
          </a:stretch>
        </p:blipFill>
        <p:spPr>
          <a:xfrm>
            <a:off x="6246472" y="1582742"/>
            <a:ext cx="5294276" cy="3161083"/>
          </a:xfrm>
          <a:prstGeom prst="rect">
            <a:avLst/>
          </a:prstGeom>
        </p:spPr>
      </p:pic>
    </p:spTree>
    <p:extLst>
      <p:ext uri="{BB962C8B-B14F-4D97-AF65-F5344CB8AC3E}">
        <p14:creationId xmlns:p14="http://schemas.microsoft.com/office/powerpoint/2010/main" val="3232542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86DBB-D0DC-05D4-788C-E10EEF6B4A91}"/>
              </a:ext>
            </a:extLst>
          </p:cNvPr>
          <p:cNvSpPr>
            <a:spLocks noGrp="1"/>
          </p:cNvSpPr>
          <p:nvPr>
            <p:ph type="title"/>
          </p:nvPr>
        </p:nvSpPr>
        <p:spPr>
          <a:xfrm>
            <a:off x="891990" y="434225"/>
            <a:ext cx="9524998" cy="1499627"/>
          </a:xfrm>
        </p:spPr>
        <p:txBody>
          <a:bodyPr/>
          <a:lstStyle/>
          <a:p>
            <a:r>
              <a:rPr lang="en-US" dirty="0"/>
              <a:t>CONCLUSION </a:t>
            </a:r>
          </a:p>
        </p:txBody>
      </p:sp>
      <p:sp>
        <p:nvSpPr>
          <p:cNvPr id="3" name="Content Placeholder 2">
            <a:extLst>
              <a:ext uri="{FF2B5EF4-FFF2-40B4-BE49-F238E27FC236}">
                <a16:creationId xmlns:a16="http://schemas.microsoft.com/office/drawing/2014/main" id="{F0E41F64-E350-1F21-8A57-E740F48F3132}"/>
              </a:ext>
            </a:extLst>
          </p:cNvPr>
          <p:cNvSpPr>
            <a:spLocks noGrp="1"/>
          </p:cNvSpPr>
          <p:nvPr>
            <p:ph sz="quarter" idx="10"/>
          </p:nvPr>
        </p:nvSpPr>
        <p:spPr>
          <a:xfrm>
            <a:off x="914398" y="2022250"/>
            <a:ext cx="10280953" cy="1406750"/>
          </a:xfrm>
        </p:spPr>
        <p:txBody>
          <a:bodyPr/>
          <a:lstStyle/>
          <a:p>
            <a:r>
              <a:rPr lang="en-US" dirty="0"/>
              <a:t>Based on the analysis of the results, it can be concluded that the most challenging classes to predict are “slight right turn” and “move forward,” as shown in the error analysis.</a:t>
            </a:r>
          </a:p>
        </p:txBody>
      </p:sp>
      <p:sp>
        <p:nvSpPr>
          <p:cNvPr id="5" name="Slide Number Placeholder 4">
            <a:extLst>
              <a:ext uri="{FF2B5EF4-FFF2-40B4-BE49-F238E27FC236}">
                <a16:creationId xmlns:a16="http://schemas.microsoft.com/office/drawing/2014/main" id="{C99D2502-F7A7-039F-01A0-59462ADFF659}"/>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16</a:t>
            </a:fld>
            <a:endParaRPr lang="en-US" dirty="0"/>
          </a:p>
        </p:txBody>
      </p:sp>
      <p:sp>
        <p:nvSpPr>
          <p:cNvPr id="8" name="Content Placeholder 2">
            <a:extLst>
              <a:ext uri="{FF2B5EF4-FFF2-40B4-BE49-F238E27FC236}">
                <a16:creationId xmlns:a16="http://schemas.microsoft.com/office/drawing/2014/main" id="{B0830686-375F-ECD7-B845-5A2022D104FC}"/>
              </a:ext>
            </a:extLst>
          </p:cNvPr>
          <p:cNvSpPr txBox="1">
            <a:spLocks/>
          </p:cNvSpPr>
          <p:nvPr/>
        </p:nvSpPr>
        <p:spPr>
          <a:xfrm>
            <a:off x="891989" y="3429000"/>
            <a:ext cx="10530754" cy="140675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914400" rtl="0" eaLnBrk="1" latinLnBrk="0" hangingPunct="1">
              <a:lnSpc>
                <a:spcPct val="90000"/>
              </a:lnSpc>
              <a:spcBef>
                <a:spcPts val="0"/>
              </a:spcBef>
              <a:spcAft>
                <a:spcPts val="1200"/>
              </a:spcAft>
              <a:buFont typeface="Arial" panose="020B0604020202020204" pitchFamily="34" charset="0"/>
              <a:buChar char="•"/>
              <a:defRPr sz="2000" b="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1200"/>
              </a:spcAft>
              <a:buFont typeface="Arial" panose="020B0604020202020204" pitchFamily="34" charset="0"/>
              <a:buChar char="•"/>
              <a:defRPr sz="1800" b="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1200"/>
              </a:spcAft>
              <a:buFont typeface="Arial" panose="020B0604020202020204" pitchFamily="34" charset="0"/>
              <a:buChar char="•"/>
              <a:defRPr sz="1600" b="0" kern="1200">
                <a:solidFill>
                  <a:schemeClr val="tx1"/>
                </a:solidFill>
                <a:latin typeface="+mn-lt"/>
                <a:ea typeface="+mn-ea"/>
                <a:cs typeface="+mn-cs"/>
              </a:defRPr>
            </a:lvl4pPr>
            <a:lvl5pPr marL="1143000" indent="-228600" algn="l" defTabSz="914400" rtl="0" eaLnBrk="1" latinLnBrk="0" hangingPunct="1">
              <a:lnSpc>
                <a:spcPct val="90000"/>
              </a:lnSpc>
              <a:spcBef>
                <a:spcPts val="0"/>
              </a:spcBef>
              <a:spcAft>
                <a:spcPts val="1200"/>
              </a:spcAft>
              <a:buFont typeface="Arial" panose="020B0604020202020204" pitchFamily="34" charset="0"/>
              <a:buChar char="•"/>
              <a:defRPr sz="16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Support Vector Classifier (SVC) performance is highly dependent on the choice of hyperparameters, which significantly influences its accuracy. Overall, the Random Forest algorithm demonstrated the highest performance between the evaluated models.</a:t>
            </a:r>
          </a:p>
        </p:txBody>
      </p:sp>
      <p:pic>
        <p:nvPicPr>
          <p:cNvPr id="6" name="Picture 5" descr="Random Forest Black Line Icon Digital Stock Vector (Royalty Free)  2618915177 | Shutterstock">
            <a:extLst>
              <a:ext uri="{FF2B5EF4-FFF2-40B4-BE49-F238E27FC236}">
                <a16:creationId xmlns:a16="http://schemas.microsoft.com/office/drawing/2014/main" id="{7E2EE085-2061-6711-B25C-6C425E641DE4}"/>
              </a:ext>
            </a:extLst>
          </p:cNvPr>
          <p:cNvPicPr>
            <a:picLocks noChangeAspect="1"/>
          </p:cNvPicPr>
          <p:nvPr/>
        </p:nvPicPr>
        <p:blipFill>
          <a:blip r:embed="rId3"/>
          <a:srcRect l="9567" t="10051" r="9897" b="16083"/>
          <a:stretch>
            <a:fillRect/>
          </a:stretch>
        </p:blipFill>
        <p:spPr>
          <a:xfrm>
            <a:off x="10997731" y="5702860"/>
            <a:ext cx="850024" cy="839608"/>
          </a:xfrm>
          <a:prstGeom prst="rect">
            <a:avLst/>
          </a:prstGeom>
        </p:spPr>
      </p:pic>
    </p:spTree>
    <p:extLst>
      <p:ext uri="{BB962C8B-B14F-4D97-AF65-F5344CB8AC3E}">
        <p14:creationId xmlns:p14="http://schemas.microsoft.com/office/powerpoint/2010/main" val="2398406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77B52831-0916-294C-0ACB-9774B9805D9B}"/>
              </a:ext>
              <a:ext uri="{C183D7F6-B498-43B3-948B-1728B52AA6E4}">
                <adec:decorative xmlns:adec="http://schemas.microsoft.com/office/drawing/2017/decorative" val="1"/>
              </a:ext>
            </a:extLst>
          </p:cNvPr>
          <p:cNvPicPr>
            <a:picLocks noChangeAspect="1"/>
          </p:cNvPicPr>
          <p:nvPr/>
        </p:nvPicPr>
        <p:blipFill rotWithShape="1">
          <a:blip>
            <a:extLst>
              <a:ext uri="{96DAC541-7B7A-43D3-8B79-37D633B846F1}">
                <asvg:svgBlip xmlns:asvg="http://schemas.microsoft.com/office/drawing/2016/SVG/main" r:embed="rId3"/>
              </a:ext>
            </a:extLst>
          </a:blip>
          <a:srcRect l="4151" r="18577"/>
          <a:stretch/>
        </p:blipFill>
        <p:spPr>
          <a:xfrm flipH="1">
            <a:off x="0" y="0"/>
            <a:ext cx="5181600" cy="6858000"/>
          </a:xfrm>
          <a:prstGeom prst="rect">
            <a:avLst/>
          </a:prstGeom>
        </p:spPr>
      </p:pic>
      <p:sp>
        <p:nvSpPr>
          <p:cNvPr id="7" name="Title 6">
            <a:extLst>
              <a:ext uri="{FF2B5EF4-FFF2-40B4-BE49-F238E27FC236}">
                <a16:creationId xmlns:a16="http://schemas.microsoft.com/office/drawing/2014/main" id="{E82E216E-9EE0-9D3F-D692-083F575A3D04}"/>
              </a:ext>
            </a:extLst>
          </p:cNvPr>
          <p:cNvSpPr>
            <a:spLocks noGrp="1"/>
          </p:cNvSpPr>
          <p:nvPr>
            <p:ph type="title"/>
          </p:nvPr>
        </p:nvSpPr>
        <p:spPr>
          <a:xfrm>
            <a:off x="6091515" y="374090"/>
            <a:ext cx="5057104" cy="3624984"/>
          </a:xfrm>
        </p:spPr>
        <p:txBody>
          <a:bodyPr/>
          <a:lstStyle/>
          <a:p>
            <a:r>
              <a:rPr lang="en-US" dirty="0"/>
              <a:t>Thank you</a:t>
            </a:r>
          </a:p>
        </p:txBody>
      </p:sp>
      <p:sp>
        <p:nvSpPr>
          <p:cNvPr id="10" name="Content Placeholder 9">
            <a:extLst>
              <a:ext uri="{FF2B5EF4-FFF2-40B4-BE49-F238E27FC236}">
                <a16:creationId xmlns:a16="http://schemas.microsoft.com/office/drawing/2014/main" id="{1F398FDD-E639-CF6A-B875-443655F2B31B}"/>
              </a:ext>
            </a:extLst>
          </p:cNvPr>
          <p:cNvSpPr>
            <a:spLocks noGrp="1"/>
          </p:cNvSpPr>
          <p:nvPr>
            <p:ph idx="1"/>
          </p:nvPr>
        </p:nvSpPr>
        <p:spPr>
          <a:xfrm>
            <a:off x="6091514" y="4172989"/>
            <a:ext cx="5057103" cy="2519363"/>
          </a:xfrm>
        </p:spPr>
        <p:txBody>
          <a:bodyPr/>
          <a:lstStyle/>
          <a:p>
            <a:r>
              <a:rPr lang="en-US" dirty="0"/>
              <a:t>Mobina Alinaghian</a:t>
            </a:r>
          </a:p>
          <a:p>
            <a:endParaRPr lang="en-US" dirty="0"/>
          </a:p>
        </p:txBody>
      </p:sp>
    </p:spTree>
    <p:extLst>
      <p:ext uri="{BB962C8B-B14F-4D97-AF65-F5344CB8AC3E}">
        <p14:creationId xmlns:p14="http://schemas.microsoft.com/office/powerpoint/2010/main" val="769932640"/>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954417ABEA01C41A88D36A2D8896F11" ma:contentTypeVersion="5" ma:contentTypeDescription="Creare un nuovo documento." ma:contentTypeScope="" ma:versionID="e31cb70d0255c3f426bda7ea401a60fb">
  <xsd:schema xmlns:xsd="http://www.w3.org/2001/XMLSchema" xmlns:xs="http://www.w3.org/2001/XMLSchema" xmlns:p="http://schemas.microsoft.com/office/2006/metadata/properties" xmlns:ns3="3692e56d-4526-427a-8c46-aec6bb1068f9" targetNamespace="http://schemas.microsoft.com/office/2006/metadata/properties" ma:root="true" ma:fieldsID="7f7981da1f6f59b8a0aeb58bf4eb4f63" ns3:_="">
    <xsd:import namespace="3692e56d-4526-427a-8c46-aec6bb1068f9"/>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92e56d-4526-427a-8c46-aec6bb1068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3BB2530-1057-4A7E-B10D-7882C28876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92e56d-4526-427a-8c46-aec6bb1068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B045227-5724-4DBF-9712-031B1BFB2C3C}">
  <ds:schemaRefs>
    <ds:schemaRef ds:uri="http://www.w3.org/XML/1998/namespace"/>
    <ds:schemaRef ds:uri="http://schemas.openxmlformats.org/package/2006/metadata/core-properties"/>
    <ds:schemaRef ds:uri="http://purl.org/dc/elements/1.1/"/>
    <ds:schemaRef ds:uri="http://schemas.microsoft.com/office/2006/documentManagement/types"/>
    <ds:schemaRef ds:uri="http://purl.org/dc/terms/"/>
    <ds:schemaRef ds:uri="3692e56d-4526-427a-8c46-aec6bb1068f9"/>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B7B39BD0-040C-43BE-B0E4-512B09E8003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sales pitch</Template>
  <TotalTime>2490</TotalTime>
  <Words>608</Words>
  <Application>Microsoft Office PowerPoint</Application>
  <PresentationFormat>Widescreen</PresentationFormat>
  <Paragraphs>96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Tenorite</vt:lpstr>
      <vt:lpstr>Custom</vt:lpstr>
      <vt:lpstr>SENSOR READINGS FROM A WALL-FOLLOWING ROBOT  DATA COLLECTED FROM A ROBOT WHILE NAVIGATING AROUND A ROOM</vt:lpstr>
      <vt:lpstr>INTRODUCTION </vt:lpstr>
      <vt:lpstr>PowerPoint Presentation</vt:lpstr>
      <vt:lpstr>Dataset</vt:lpstr>
      <vt:lpstr>PowerPoint Presentation</vt:lpstr>
      <vt:lpstr>IMPLEMENTATION </vt:lpstr>
      <vt:lpstr>PowerPoint Presentation</vt:lpstr>
      <vt:lpstr>PRE-PROCESSING </vt:lpstr>
      <vt:lpstr>SVC</vt:lpstr>
      <vt:lpstr>PowerPoint Presentation</vt:lpstr>
      <vt:lpstr>PowerPoint Presentation</vt:lpstr>
      <vt:lpstr>PowerPoint Presentation</vt:lpstr>
      <vt:lpstr>RANDOM FOREST</vt:lpstr>
      <vt:lpstr>PowerPoint Presentation</vt:lpstr>
      <vt:lpstr>PowerPoint Presentation</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Mobina Alinaghian</dc:creator>
  <cp:lastModifiedBy>Mobina Alinaghian</cp:lastModifiedBy>
  <cp:revision>2</cp:revision>
  <dcterms:created xsi:type="dcterms:W3CDTF">2026-06-03T20:57:28Z</dcterms:created>
  <dcterms:modified xsi:type="dcterms:W3CDTF">2026-06-19T21:15:40Z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0x010100E954417ABEA01C41A88D36A2D8896F11</vt:lpwstr>
  </property>
</Properties>
</file>